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Public Sans 1" charset="1" panose="00000000000000000000"/>
      <p:regular r:id="rId17"/>
    </p:embeddedFont>
    <p:embeddedFont>
      <p:font typeface="Public Sans 2 Bold" charset="1" panose="00000000000000000000"/>
      <p:regular r:id="rId18"/>
    </p:embeddedFont>
    <p:embeddedFont>
      <p:font typeface="Public Sans 2" charset="1" panose="00000000000000000000"/>
      <p:regular r:id="rId19"/>
    </p:embeddedFont>
    <p:embeddedFont>
      <p:font typeface="Public Sans 1 Bold" charset="1" panose="00000000000000000000"/>
      <p:regular r:id="rId20"/>
    </p:embeddedFont>
    <p:embeddedFont>
      <p:font typeface="Public Sans 1 Medium" charset="1" panose="0000000000000000000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483489" y="5521232"/>
            <a:ext cx="15716192" cy="5707392"/>
            <a:chOff x="0" y="0"/>
            <a:chExt cx="20954923" cy="7609856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2044057"/>
              <a:ext cx="20954923" cy="5565799"/>
              <a:chOff x="0" y="0"/>
              <a:chExt cx="5632329" cy="1495993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5632329" cy="1495993"/>
              </a:xfrm>
              <a:custGeom>
                <a:avLst/>
                <a:gdLst/>
                <a:ahLst/>
                <a:cxnLst/>
                <a:rect r="r" b="b" t="t" l="l"/>
                <a:pathLst>
                  <a:path h="1495993" w="5632329">
                    <a:moveTo>
                      <a:pt x="0" y="0"/>
                    </a:moveTo>
                    <a:lnTo>
                      <a:pt x="5632329" y="0"/>
                    </a:lnTo>
                    <a:lnTo>
                      <a:pt x="5632329" y="1495993"/>
                    </a:lnTo>
                    <a:lnTo>
                      <a:pt x="0" y="1495993"/>
                    </a:lnTo>
                    <a:close/>
                  </a:path>
                </a:pathLst>
              </a:custGeom>
              <a:solidFill>
                <a:srgbClr val="3A855D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28575"/>
                <a:ext cx="5632329" cy="152456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6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6" id="6"/>
            <p:cNvSpPr/>
            <p:nvPr/>
          </p:nvSpPr>
          <p:spPr>
            <a:xfrm flipH="false" flipV="false" rot="0">
              <a:off x="147591" y="0"/>
              <a:ext cx="20807332" cy="7609856"/>
            </a:xfrm>
            <a:custGeom>
              <a:avLst/>
              <a:gdLst/>
              <a:ahLst/>
              <a:cxnLst/>
              <a:rect r="r" b="b" t="t" l="l"/>
              <a:pathLst>
                <a:path h="7609856" w="20807332">
                  <a:moveTo>
                    <a:pt x="0" y="0"/>
                  </a:moveTo>
                  <a:lnTo>
                    <a:pt x="20807332" y="0"/>
                  </a:lnTo>
                  <a:lnTo>
                    <a:pt x="20807332" y="7609856"/>
                  </a:lnTo>
                  <a:lnTo>
                    <a:pt x="0" y="76098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0968" t="-131589" r="-17283" b="-2483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6968665" y="1181100"/>
            <a:ext cx="10258673" cy="2689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6961"/>
              </a:lnSpc>
            </a:pPr>
            <a:r>
              <a:rPr lang="en-US" sz="7251" spc="-594">
                <a:solidFill>
                  <a:srgbClr val="3A855D"/>
                </a:solidFill>
                <a:latin typeface="Public Sans 1"/>
                <a:ea typeface="Public Sans 1"/>
                <a:cs typeface="Public Sans 1"/>
                <a:sym typeface="Public Sans 1"/>
              </a:rPr>
              <a:t>Strategic Procurement Analysis: Optimizing Spend Efficiency &amp; Reducing Risk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000627" y="4044984"/>
            <a:ext cx="10258673" cy="392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625"/>
              </a:lnSpc>
              <a:spcBef>
                <a:spcPct val="0"/>
              </a:spcBef>
            </a:pPr>
            <a:r>
              <a:rPr lang="en-US" sz="3409" spc="-279">
                <a:solidFill>
                  <a:srgbClr val="3A855D"/>
                </a:solidFill>
                <a:latin typeface="Public Sans 1"/>
                <a:ea typeface="Public Sans 1"/>
                <a:cs typeface="Public Sans 1"/>
                <a:sym typeface="Public Sans 1"/>
              </a:rPr>
              <a:t>Public Administration &amp; Government Finance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1133475"/>
            <a:ext cx="2477776" cy="356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347"/>
              </a:lnSpc>
              <a:spcBef>
                <a:spcPct val="0"/>
              </a:spcBef>
            </a:pPr>
            <a:r>
              <a:rPr lang="en-US" sz="3048" spc="-249">
                <a:solidFill>
                  <a:srgbClr val="3A855D"/>
                </a:solidFill>
                <a:latin typeface="Public Sans 1"/>
                <a:ea typeface="Public Sans 1"/>
                <a:cs typeface="Public Sans 1"/>
                <a:sym typeface="Public Sans 1"/>
              </a:rPr>
              <a:t>Section - E | G5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3548752" y="7239875"/>
            <a:ext cx="3710548" cy="2270107"/>
            <a:chOff x="0" y="0"/>
            <a:chExt cx="4947397" cy="3026809"/>
          </a:xfrm>
        </p:grpSpPr>
        <p:sp>
          <p:nvSpPr>
            <p:cNvPr name="TextBox 11" id="11"/>
            <p:cNvSpPr txBox="true"/>
            <p:nvPr/>
          </p:nvSpPr>
          <p:spPr>
            <a:xfrm rot="0">
              <a:off x="0" y="-38100"/>
              <a:ext cx="4947397" cy="4360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 marL="0" indent="0" lvl="0">
                <a:lnSpc>
                  <a:spcPts val="2600"/>
                </a:lnSpc>
                <a:spcBef>
                  <a:spcPct val="0"/>
                </a:spcBef>
              </a:pPr>
              <a:r>
                <a:rPr lang="en-US" sz="2000">
                  <a:solidFill>
                    <a:srgbClr val="3A855D"/>
                  </a:solidFill>
                  <a:latin typeface="Public Sans 1"/>
                  <a:ea typeface="Public Sans 1"/>
                  <a:cs typeface="Public Sans 1"/>
                  <a:sym typeface="Public Sans 1"/>
                </a:rPr>
                <a:t>TEAM MEMBERS: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0" y="431776"/>
              <a:ext cx="4947397" cy="25950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2600"/>
                </a:lnSpc>
              </a:pPr>
              <a:r>
                <a:rPr lang="en-US" sz="2000">
                  <a:solidFill>
                    <a:srgbClr val="2B2B2B"/>
                  </a:solidFill>
                  <a:latin typeface="Public Sans 1"/>
                  <a:ea typeface="Public Sans 1"/>
                  <a:cs typeface="Public Sans 1"/>
                  <a:sym typeface="Public Sans 1"/>
                </a:rPr>
                <a:t>S.Harsith Priyan - 2401010398</a:t>
              </a:r>
            </a:p>
            <a:p>
              <a:pPr algn="r">
                <a:lnSpc>
                  <a:spcPts val="2600"/>
                </a:lnSpc>
              </a:pPr>
              <a:r>
                <a:rPr lang="en-US" sz="2000">
                  <a:solidFill>
                    <a:srgbClr val="2B2B2B"/>
                  </a:solidFill>
                  <a:latin typeface="Public Sans 1"/>
                  <a:ea typeface="Public Sans 1"/>
                  <a:cs typeface="Public Sans 1"/>
                  <a:sym typeface="Public Sans 1"/>
                </a:rPr>
                <a:t>Asad Ali - 2401010108</a:t>
              </a:r>
            </a:p>
            <a:p>
              <a:pPr algn="r">
                <a:lnSpc>
                  <a:spcPts val="2600"/>
                </a:lnSpc>
              </a:pPr>
              <a:r>
                <a:rPr lang="en-US" sz="2000">
                  <a:solidFill>
                    <a:srgbClr val="2B2B2B"/>
                  </a:solidFill>
                  <a:latin typeface="Public Sans 1"/>
                  <a:ea typeface="Public Sans 1"/>
                  <a:cs typeface="Public Sans 1"/>
                  <a:sym typeface="Public Sans 1"/>
                </a:rPr>
                <a:t>Himani Pinjani - 2401020115</a:t>
              </a:r>
            </a:p>
            <a:p>
              <a:pPr algn="r">
                <a:lnSpc>
                  <a:spcPts val="2600"/>
                </a:lnSpc>
              </a:pPr>
              <a:r>
                <a:rPr lang="en-US" sz="2000">
                  <a:solidFill>
                    <a:srgbClr val="2B2B2B"/>
                  </a:solidFill>
                  <a:latin typeface="Public Sans 1"/>
                  <a:ea typeface="Public Sans 1"/>
                  <a:cs typeface="Public Sans 1"/>
                  <a:sym typeface="Public Sans 1"/>
                </a:rPr>
                <a:t>Bhumi Rastogi - 2401010129</a:t>
              </a:r>
            </a:p>
            <a:p>
              <a:pPr algn="r">
                <a:lnSpc>
                  <a:spcPts val="2600"/>
                </a:lnSpc>
              </a:pPr>
              <a:r>
                <a:rPr lang="en-US" sz="2000">
                  <a:solidFill>
                    <a:srgbClr val="2B2B2B"/>
                  </a:solidFill>
                  <a:latin typeface="Public Sans 1"/>
                  <a:ea typeface="Public Sans 1"/>
                  <a:cs typeface="Public Sans 1"/>
                  <a:sym typeface="Public Sans 1"/>
                </a:rPr>
                <a:t>Joshit Dutta - 2401010203</a:t>
              </a:r>
            </a:p>
            <a:p>
              <a:pPr algn="r" marL="0" indent="0" lvl="0">
                <a:lnSpc>
                  <a:spcPts val="2600"/>
                </a:lnSpc>
                <a:spcBef>
                  <a:spcPct val="0"/>
                </a:spcBef>
              </a:pPr>
              <a:r>
                <a:rPr lang="en-US" sz="2000">
                  <a:solidFill>
                    <a:srgbClr val="2B2B2B"/>
                  </a:solidFill>
                  <a:latin typeface="Public Sans 1"/>
                  <a:ea typeface="Public Sans 1"/>
                  <a:cs typeface="Public Sans 1"/>
                  <a:sym typeface="Public Sans 1"/>
                </a:rPr>
                <a:t>Siddhant Giri - 2401010455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946196" y="1351924"/>
            <a:ext cx="14395608" cy="7583153"/>
            <a:chOff x="0" y="0"/>
            <a:chExt cx="3791436" cy="199720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791436" cy="1997209"/>
            </a:xfrm>
            <a:custGeom>
              <a:avLst/>
              <a:gdLst/>
              <a:ahLst/>
              <a:cxnLst/>
              <a:rect r="r" b="b" t="t" l="l"/>
              <a:pathLst>
                <a:path h="1997209" w="3791436">
                  <a:moveTo>
                    <a:pt x="8067" y="0"/>
                  </a:moveTo>
                  <a:lnTo>
                    <a:pt x="3783369" y="0"/>
                  </a:lnTo>
                  <a:cubicBezTo>
                    <a:pt x="3785508" y="0"/>
                    <a:pt x="3787560" y="850"/>
                    <a:pt x="3789073" y="2363"/>
                  </a:cubicBezTo>
                  <a:cubicBezTo>
                    <a:pt x="3790586" y="3876"/>
                    <a:pt x="3791436" y="5927"/>
                    <a:pt x="3791436" y="8067"/>
                  </a:cubicBezTo>
                  <a:lnTo>
                    <a:pt x="3791436" y="1989142"/>
                  </a:lnTo>
                  <a:cubicBezTo>
                    <a:pt x="3791436" y="1991281"/>
                    <a:pt x="3790586" y="1993333"/>
                    <a:pt x="3789073" y="1994846"/>
                  </a:cubicBezTo>
                  <a:cubicBezTo>
                    <a:pt x="3787560" y="1996359"/>
                    <a:pt x="3785508" y="1997209"/>
                    <a:pt x="3783369" y="1997209"/>
                  </a:cubicBezTo>
                  <a:lnTo>
                    <a:pt x="8067" y="1997209"/>
                  </a:lnTo>
                  <a:cubicBezTo>
                    <a:pt x="5927" y="1997209"/>
                    <a:pt x="3876" y="1996359"/>
                    <a:pt x="2363" y="1994846"/>
                  </a:cubicBezTo>
                  <a:cubicBezTo>
                    <a:pt x="850" y="1993333"/>
                    <a:pt x="0" y="1991281"/>
                    <a:pt x="0" y="1989142"/>
                  </a:cubicBezTo>
                  <a:lnTo>
                    <a:pt x="0" y="8067"/>
                  </a:lnTo>
                  <a:cubicBezTo>
                    <a:pt x="0" y="5927"/>
                    <a:pt x="850" y="3876"/>
                    <a:pt x="2363" y="2363"/>
                  </a:cubicBezTo>
                  <a:cubicBezTo>
                    <a:pt x="3876" y="850"/>
                    <a:pt x="5927" y="0"/>
                    <a:pt x="8067" y="0"/>
                  </a:cubicBezTo>
                  <a:close/>
                </a:path>
              </a:pathLst>
            </a:custGeom>
            <a:solidFill>
              <a:srgbClr val="3A855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85725"/>
              <a:ext cx="3791436" cy="19114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5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503643" y="2631952"/>
            <a:ext cx="6566491" cy="1447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5597"/>
              </a:lnSpc>
              <a:spcBef>
                <a:spcPct val="0"/>
              </a:spcBef>
            </a:pPr>
            <a:r>
              <a:rPr lang="en-US" b="true" sz="5597" spc="-442">
                <a:solidFill>
                  <a:srgbClr val="FFFFFF"/>
                </a:solidFill>
                <a:latin typeface="Public Sans 2 Bold"/>
                <a:ea typeface="Public Sans 2 Bold"/>
                <a:cs typeface="Public Sans 2 Bold"/>
                <a:sym typeface="Public Sans 2 Bold"/>
              </a:rPr>
              <a:t>Context &amp; Problem Statement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693874" y="2230386"/>
            <a:ext cx="2038276" cy="3833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19"/>
              </a:lnSpc>
            </a:pPr>
            <a:r>
              <a:rPr lang="en-US" b="true" sz="2157">
                <a:solidFill>
                  <a:srgbClr val="FFFFFF"/>
                </a:solidFill>
                <a:latin typeface="Public Sans 2 Bold"/>
                <a:ea typeface="Public Sans 2 Bold"/>
                <a:cs typeface="Public Sans 2 Bold"/>
                <a:sym typeface="Public Sans 2 Bold"/>
              </a:rPr>
              <a:t>Sector Context: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725425" y="2556595"/>
            <a:ext cx="5703398" cy="1768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0"/>
              </a:lnSpc>
              <a:spcBef>
                <a:spcPct val="0"/>
              </a:spcBef>
            </a:pPr>
            <a:r>
              <a:rPr lang="en-US" sz="2000" strike="noStrike" u="none">
                <a:solidFill>
                  <a:srgbClr val="FFFFFF"/>
                </a:solidFill>
                <a:latin typeface="Public Sans 2"/>
                <a:ea typeface="Public Sans 2"/>
                <a:cs typeface="Public Sans 2"/>
                <a:sym typeface="Public Sans 2"/>
              </a:rPr>
              <a:t>Public procurement involves managing billions of taxpayer dollars. The City of Chicago allocates funds across 45+ departments and thousands of vendors. Inefficiencies here lead to wasted public funds and operational delays.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688776" y="4432068"/>
            <a:ext cx="2623021" cy="3833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19"/>
              </a:lnSpc>
            </a:pPr>
            <a:r>
              <a:rPr lang="en-US" b="true" sz="2157">
                <a:solidFill>
                  <a:srgbClr val="FFFFFF"/>
                </a:solidFill>
                <a:latin typeface="Public Sans 2 Bold"/>
                <a:ea typeface="Public Sans 2 Bold"/>
                <a:cs typeface="Public Sans 2 Bold"/>
                <a:sym typeface="Public Sans 2 Bold"/>
              </a:rPr>
              <a:t>Problem Statement: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732495" y="4758277"/>
            <a:ext cx="5703398" cy="1416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Public Sans 2"/>
                <a:ea typeface="Public Sans 2"/>
                <a:cs typeface="Public Sans 2"/>
                <a:sym typeface="Public Sans 2"/>
              </a:rPr>
              <a:t>"Is the City’s procurement spending efficient and stable, or are there hidden risks in vendor concentration, approval bottlenecks, and contract volatility?"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716421" y="6279102"/>
            <a:ext cx="1307009" cy="3833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19"/>
              </a:lnSpc>
            </a:pPr>
            <a:r>
              <a:rPr lang="en-US" b="true" sz="2157">
                <a:solidFill>
                  <a:srgbClr val="FFFFFF"/>
                </a:solidFill>
                <a:latin typeface="Public Sans 2 Bold"/>
                <a:ea typeface="Public Sans 2 Bold"/>
                <a:cs typeface="Public Sans 2 Bold"/>
                <a:sym typeface="Public Sans 2 Bold"/>
              </a:rPr>
              <a:t>Objective: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732495" y="6601072"/>
            <a:ext cx="5703398" cy="1416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Public Sans 2"/>
                <a:ea typeface="Public Sans 2"/>
                <a:cs typeface="Public Sans 2"/>
                <a:sym typeface="Public Sans 2"/>
              </a:rPr>
              <a:t>To build a dynamic dashboard that transforms raw contract data into actionable intelligence, specifically identifying spending concentration, administrative delays, and financial risks.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189915" y="1171575"/>
            <a:ext cx="11908170" cy="16156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87"/>
              </a:lnSpc>
            </a:pPr>
            <a:r>
              <a:rPr lang="en-US" b="true" sz="6445" spc="-528">
                <a:solidFill>
                  <a:srgbClr val="3A855D"/>
                </a:solidFill>
                <a:latin typeface="Public Sans 1 Bold"/>
                <a:ea typeface="Public Sans 1 Bold"/>
                <a:cs typeface="Public Sans 1 Bold"/>
                <a:sym typeface="Public Sans 1 Bold"/>
              </a:rPr>
              <a:t>Data Engineering </a:t>
            </a:r>
          </a:p>
          <a:p>
            <a:pPr algn="ctr">
              <a:lnSpc>
                <a:spcPts val="6187"/>
              </a:lnSpc>
            </a:pPr>
            <a:r>
              <a:rPr lang="en-US" b="true" sz="6445" spc="-528">
                <a:solidFill>
                  <a:srgbClr val="3A855D"/>
                </a:solidFill>
                <a:latin typeface="Public Sans 1 Bold"/>
                <a:ea typeface="Public Sans 1 Bold"/>
                <a:cs typeface="Public Sans 1 Bold"/>
                <a:sym typeface="Public Sans 1 Bold"/>
              </a:rPr>
              <a:t>(Source to Sink)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2628904" y="3865536"/>
            <a:ext cx="13030193" cy="5647620"/>
            <a:chOff x="0" y="0"/>
            <a:chExt cx="17373591" cy="7530160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5637382" cy="7141180"/>
              <a:chOff x="0" y="0"/>
              <a:chExt cx="1102601" cy="1396725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1102601" cy="1396725"/>
              </a:xfrm>
              <a:custGeom>
                <a:avLst/>
                <a:gdLst/>
                <a:ahLst/>
                <a:cxnLst/>
                <a:rect r="r" b="b" t="t" l="l"/>
                <a:pathLst>
                  <a:path h="1396725" w="1102601">
                    <a:moveTo>
                      <a:pt x="25289" y="0"/>
                    </a:moveTo>
                    <a:lnTo>
                      <a:pt x="1077312" y="0"/>
                    </a:lnTo>
                    <a:cubicBezTo>
                      <a:pt x="1084019" y="0"/>
                      <a:pt x="1090451" y="2664"/>
                      <a:pt x="1095194" y="7407"/>
                    </a:cubicBezTo>
                    <a:cubicBezTo>
                      <a:pt x="1099936" y="12149"/>
                      <a:pt x="1102601" y="18582"/>
                      <a:pt x="1102601" y="25289"/>
                    </a:cubicBezTo>
                    <a:lnTo>
                      <a:pt x="1102601" y="1371436"/>
                    </a:lnTo>
                    <a:cubicBezTo>
                      <a:pt x="1102601" y="1378143"/>
                      <a:pt x="1099936" y="1384575"/>
                      <a:pt x="1095194" y="1389318"/>
                    </a:cubicBezTo>
                    <a:cubicBezTo>
                      <a:pt x="1090451" y="1394060"/>
                      <a:pt x="1084019" y="1396725"/>
                      <a:pt x="1077312" y="1396725"/>
                    </a:cubicBezTo>
                    <a:lnTo>
                      <a:pt x="25289" y="1396725"/>
                    </a:lnTo>
                    <a:cubicBezTo>
                      <a:pt x="18582" y="1396725"/>
                      <a:pt x="12149" y="1394060"/>
                      <a:pt x="7407" y="1389318"/>
                    </a:cubicBezTo>
                    <a:cubicBezTo>
                      <a:pt x="2664" y="1384575"/>
                      <a:pt x="0" y="1378143"/>
                      <a:pt x="0" y="1371436"/>
                    </a:cubicBezTo>
                    <a:lnTo>
                      <a:pt x="0" y="25289"/>
                    </a:lnTo>
                    <a:cubicBezTo>
                      <a:pt x="0" y="18582"/>
                      <a:pt x="2664" y="12149"/>
                      <a:pt x="7407" y="7407"/>
                    </a:cubicBezTo>
                    <a:cubicBezTo>
                      <a:pt x="12149" y="2664"/>
                      <a:pt x="18582" y="0"/>
                      <a:pt x="25289" y="0"/>
                    </a:cubicBezTo>
                    <a:close/>
                  </a:path>
                </a:pathLst>
              </a:custGeom>
              <a:solidFill>
                <a:srgbClr val="3A855D"/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85725"/>
                <a:ext cx="1102601" cy="1311000"/>
              </a:xfrm>
              <a:prstGeom prst="rect">
                <a:avLst/>
              </a:prstGeom>
            </p:spPr>
            <p:txBody>
              <a:bodyPr anchor="ctr" rtlCol="false" tIns="59256" lIns="59256" bIns="59256" rIns="59256"/>
              <a:lstStyle/>
              <a:p>
                <a:pPr algn="ctr">
                  <a:lnSpc>
                    <a:spcPts val="1925"/>
                  </a:lnSpc>
                </a:pPr>
              </a:p>
            </p:txBody>
          </p:sp>
        </p:grpSp>
        <p:sp>
          <p:nvSpPr>
            <p:cNvPr name="TextBox 7" id="7"/>
            <p:cNvSpPr txBox="true"/>
            <p:nvPr/>
          </p:nvSpPr>
          <p:spPr>
            <a:xfrm rot="0">
              <a:off x="0" y="2228523"/>
              <a:ext cx="5482557" cy="3233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394184" indent="-197092" lvl="1">
                <a:lnSpc>
                  <a:spcPts val="2464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b="true" sz="1825" spc="109">
                  <a:solidFill>
                    <a:srgbClr val="F1F0EC"/>
                  </a:solidFill>
                  <a:latin typeface="Public Sans 1 Medium"/>
                  <a:ea typeface="Public Sans 1 Medium"/>
                  <a:cs typeface="Public Sans 1 Medium"/>
                  <a:sym typeface="Public Sans 1 Medium"/>
                </a:rPr>
                <a:t>Nam</a:t>
              </a:r>
              <a:r>
                <a:rPr lang="en-US" b="true" sz="1825" spc="109" u="none">
                  <a:solidFill>
                    <a:srgbClr val="F1F0EC"/>
                  </a:solidFill>
                  <a:latin typeface="Public Sans 1 Medium"/>
                  <a:ea typeface="Public Sans 1 Medium"/>
                  <a:cs typeface="Public Sans 1 Medium"/>
                  <a:sym typeface="Public Sans 1 Medium"/>
                </a:rPr>
                <a:t>e: City of Chicago Administration &amp; Finance Data (Public Ledger).</a:t>
              </a:r>
            </a:p>
            <a:p>
              <a:pPr algn="l" marL="394184" indent="-197092" lvl="1">
                <a:lnSpc>
                  <a:spcPts val="2464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b="true" sz="1825" spc="109" u="none">
                  <a:solidFill>
                    <a:srgbClr val="F1F0EC"/>
                  </a:solidFill>
                  <a:latin typeface="Public Sans 1 Medium"/>
                  <a:ea typeface="Public Sans 1 Medium"/>
                  <a:cs typeface="Public Sans 1 Medium"/>
                  <a:sym typeface="Public Sans 1 Medium"/>
                </a:rPr>
                <a:t>Size: 10,000 Rows, 20 Columns (Raw).</a:t>
              </a:r>
            </a:p>
            <a:p>
              <a:pPr algn="l" marL="394184" indent="-197092" lvl="1">
                <a:lnSpc>
                  <a:spcPts val="2464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b="true" sz="1825" spc="109" u="none">
                  <a:solidFill>
                    <a:srgbClr val="F1F0EC"/>
                  </a:solidFill>
                  <a:latin typeface="Public Sans 1 Medium"/>
                  <a:ea typeface="Public Sans 1 Medium"/>
                  <a:cs typeface="Public Sans 1 Medium"/>
                  <a:sym typeface="Public Sans 1 Medium"/>
                </a:rPr>
                <a:t>Time Period: 1990 – 2026 (Projected).</a:t>
              </a:r>
            </a:p>
            <a:p>
              <a:pPr algn="l" marL="0" indent="0" lvl="0">
                <a:lnSpc>
                  <a:spcPts val="2464"/>
                </a:lnSpc>
                <a:spcBef>
                  <a:spcPct val="0"/>
                </a:spcBef>
              </a:pPr>
            </a:p>
          </p:txBody>
        </p:sp>
        <p:grpSp>
          <p:nvGrpSpPr>
            <p:cNvPr name="Group 8" id="8"/>
            <p:cNvGrpSpPr/>
            <p:nvPr/>
          </p:nvGrpSpPr>
          <p:grpSpPr>
            <a:xfrm rot="0">
              <a:off x="5867956" y="0"/>
              <a:ext cx="5637382" cy="7141180"/>
              <a:chOff x="0" y="0"/>
              <a:chExt cx="1102601" cy="1396725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1102601" cy="1396725"/>
              </a:xfrm>
              <a:custGeom>
                <a:avLst/>
                <a:gdLst/>
                <a:ahLst/>
                <a:cxnLst/>
                <a:rect r="r" b="b" t="t" l="l"/>
                <a:pathLst>
                  <a:path h="1396725" w="1102601">
                    <a:moveTo>
                      <a:pt x="25289" y="0"/>
                    </a:moveTo>
                    <a:lnTo>
                      <a:pt x="1077312" y="0"/>
                    </a:lnTo>
                    <a:cubicBezTo>
                      <a:pt x="1084019" y="0"/>
                      <a:pt x="1090451" y="2664"/>
                      <a:pt x="1095194" y="7407"/>
                    </a:cubicBezTo>
                    <a:cubicBezTo>
                      <a:pt x="1099936" y="12149"/>
                      <a:pt x="1102601" y="18582"/>
                      <a:pt x="1102601" y="25289"/>
                    </a:cubicBezTo>
                    <a:lnTo>
                      <a:pt x="1102601" y="1371436"/>
                    </a:lnTo>
                    <a:cubicBezTo>
                      <a:pt x="1102601" y="1378143"/>
                      <a:pt x="1099936" y="1384575"/>
                      <a:pt x="1095194" y="1389318"/>
                    </a:cubicBezTo>
                    <a:cubicBezTo>
                      <a:pt x="1090451" y="1394060"/>
                      <a:pt x="1084019" y="1396725"/>
                      <a:pt x="1077312" y="1396725"/>
                    </a:cubicBezTo>
                    <a:lnTo>
                      <a:pt x="25289" y="1396725"/>
                    </a:lnTo>
                    <a:cubicBezTo>
                      <a:pt x="18582" y="1396725"/>
                      <a:pt x="12149" y="1394060"/>
                      <a:pt x="7407" y="1389318"/>
                    </a:cubicBezTo>
                    <a:cubicBezTo>
                      <a:pt x="2664" y="1384575"/>
                      <a:pt x="0" y="1378143"/>
                      <a:pt x="0" y="1371436"/>
                    </a:cubicBezTo>
                    <a:lnTo>
                      <a:pt x="0" y="25289"/>
                    </a:lnTo>
                    <a:cubicBezTo>
                      <a:pt x="0" y="18582"/>
                      <a:pt x="2664" y="12149"/>
                      <a:pt x="7407" y="7407"/>
                    </a:cubicBezTo>
                    <a:cubicBezTo>
                      <a:pt x="12149" y="2664"/>
                      <a:pt x="18582" y="0"/>
                      <a:pt x="25289" y="0"/>
                    </a:cubicBezTo>
                    <a:close/>
                  </a:path>
                </a:pathLst>
              </a:custGeom>
              <a:solidFill>
                <a:srgbClr val="3A855D"/>
              </a:soli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85725"/>
                <a:ext cx="1102601" cy="1311000"/>
              </a:xfrm>
              <a:prstGeom prst="rect">
                <a:avLst/>
              </a:prstGeom>
            </p:spPr>
            <p:txBody>
              <a:bodyPr anchor="ctr" rtlCol="false" tIns="59256" lIns="59256" bIns="59256" rIns="59256"/>
              <a:lstStyle/>
              <a:p>
                <a:pPr algn="ctr">
                  <a:lnSpc>
                    <a:spcPts val="1925"/>
                  </a:lnSpc>
                </a:pPr>
              </a:p>
            </p:txBody>
          </p:sp>
        </p:grpSp>
        <p:grpSp>
          <p:nvGrpSpPr>
            <p:cNvPr name="Group 11" id="11"/>
            <p:cNvGrpSpPr/>
            <p:nvPr/>
          </p:nvGrpSpPr>
          <p:grpSpPr>
            <a:xfrm rot="0">
              <a:off x="11736209" y="0"/>
              <a:ext cx="5637382" cy="7141180"/>
              <a:chOff x="0" y="0"/>
              <a:chExt cx="1102601" cy="1396725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1102601" cy="1396725"/>
              </a:xfrm>
              <a:custGeom>
                <a:avLst/>
                <a:gdLst/>
                <a:ahLst/>
                <a:cxnLst/>
                <a:rect r="r" b="b" t="t" l="l"/>
                <a:pathLst>
                  <a:path h="1396725" w="1102601">
                    <a:moveTo>
                      <a:pt x="25289" y="0"/>
                    </a:moveTo>
                    <a:lnTo>
                      <a:pt x="1077312" y="0"/>
                    </a:lnTo>
                    <a:cubicBezTo>
                      <a:pt x="1084019" y="0"/>
                      <a:pt x="1090451" y="2664"/>
                      <a:pt x="1095194" y="7407"/>
                    </a:cubicBezTo>
                    <a:cubicBezTo>
                      <a:pt x="1099936" y="12149"/>
                      <a:pt x="1102601" y="18582"/>
                      <a:pt x="1102601" y="25289"/>
                    </a:cubicBezTo>
                    <a:lnTo>
                      <a:pt x="1102601" y="1371436"/>
                    </a:lnTo>
                    <a:cubicBezTo>
                      <a:pt x="1102601" y="1378143"/>
                      <a:pt x="1099936" y="1384575"/>
                      <a:pt x="1095194" y="1389318"/>
                    </a:cubicBezTo>
                    <a:cubicBezTo>
                      <a:pt x="1090451" y="1394060"/>
                      <a:pt x="1084019" y="1396725"/>
                      <a:pt x="1077312" y="1396725"/>
                    </a:cubicBezTo>
                    <a:lnTo>
                      <a:pt x="25289" y="1396725"/>
                    </a:lnTo>
                    <a:cubicBezTo>
                      <a:pt x="18582" y="1396725"/>
                      <a:pt x="12149" y="1394060"/>
                      <a:pt x="7407" y="1389318"/>
                    </a:cubicBezTo>
                    <a:cubicBezTo>
                      <a:pt x="2664" y="1384575"/>
                      <a:pt x="0" y="1378143"/>
                      <a:pt x="0" y="1371436"/>
                    </a:cubicBezTo>
                    <a:lnTo>
                      <a:pt x="0" y="25289"/>
                    </a:lnTo>
                    <a:cubicBezTo>
                      <a:pt x="0" y="18582"/>
                      <a:pt x="2664" y="12149"/>
                      <a:pt x="7407" y="7407"/>
                    </a:cubicBezTo>
                    <a:cubicBezTo>
                      <a:pt x="12149" y="2664"/>
                      <a:pt x="18582" y="0"/>
                      <a:pt x="25289" y="0"/>
                    </a:cubicBezTo>
                    <a:close/>
                  </a:path>
                </a:pathLst>
              </a:custGeom>
              <a:solidFill>
                <a:srgbClr val="3A855D"/>
              </a:solidFill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85725"/>
                <a:ext cx="1102601" cy="1311000"/>
              </a:xfrm>
              <a:prstGeom prst="rect">
                <a:avLst/>
              </a:prstGeom>
            </p:spPr>
            <p:txBody>
              <a:bodyPr anchor="ctr" rtlCol="false" tIns="59256" lIns="59256" bIns="59256" rIns="59256"/>
              <a:lstStyle/>
              <a:p>
                <a:pPr algn="ctr">
                  <a:lnSpc>
                    <a:spcPts val="1925"/>
                  </a:lnSpc>
                </a:pPr>
              </a:p>
            </p:txBody>
          </p:sp>
        </p:grpSp>
        <p:sp>
          <p:nvSpPr>
            <p:cNvPr name="TextBox 14" id="14"/>
            <p:cNvSpPr txBox="true"/>
            <p:nvPr/>
          </p:nvSpPr>
          <p:spPr>
            <a:xfrm rot="0">
              <a:off x="962240" y="687024"/>
              <a:ext cx="3712902" cy="12072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350"/>
                </a:lnSpc>
              </a:pPr>
              <a:r>
                <a:rPr lang="en-US" sz="3490" spc="-286">
                  <a:solidFill>
                    <a:srgbClr val="F1F0EC"/>
                  </a:solidFill>
                  <a:latin typeface="Public Sans 1"/>
                  <a:ea typeface="Public Sans 1"/>
                  <a:cs typeface="Public Sans 1"/>
                  <a:sym typeface="Public Sans 1"/>
                </a:rPr>
                <a:t>Source </a:t>
              </a:r>
            </a:p>
            <a:p>
              <a:pPr algn="ctr">
                <a:lnSpc>
                  <a:spcPts val="3350"/>
                </a:lnSpc>
              </a:pPr>
              <a:r>
                <a:rPr lang="en-US" sz="3490" spc="-286">
                  <a:solidFill>
                    <a:srgbClr val="F1F0EC"/>
                  </a:solidFill>
                  <a:latin typeface="Public Sans 1"/>
                  <a:ea typeface="Public Sans 1"/>
                  <a:cs typeface="Public Sans 1"/>
                  <a:sym typeface="Public Sans 1"/>
                </a:rPr>
                <a:t>(The "Extract")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5866111" y="2228523"/>
              <a:ext cx="5870098" cy="48590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394184" indent="-197092" lvl="1">
                <a:lnSpc>
                  <a:spcPts val="2464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b="true" sz="1825" spc="109">
                  <a:solidFill>
                    <a:srgbClr val="F1F0EC"/>
                  </a:solidFill>
                  <a:latin typeface="Public Sans 1 Medium"/>
                  <a:ea typeface="Public Sans 1 Medium"/>
                  <a:cs typeface="Public Sans 1 Medium"/>
                  <a:sym typeface="Public Sans 1 Medium"/>
                </a:rPr>
                <a:t>Standardizati</a:t>
              </a:r>
              <a:r>
                <a:rPr lang="en-US" b="true" sz="1825" spc="109" u="none">
                  <a:solidFill>
                    <a:srgbClr val="F1F0EC"/>
                  </a:solidFill>
                  <a:latin typeface="Public Sans 1 Medium"/>
                  <a:ea typeface="Public Sans 1 Medium"/>
                  <a:cs typeface="Public Sans 1 Medium"/>
                  <a:sym typeface="Public Sans 1 Medium"/>
                </a:rPr>
                <a:t>on: Unified inconsistent vendor names (uppercase) for accurate grouping.</a:t>
              </a:r>
            </a:p>
            <a:p>
              <a:pPr algn="l" marL="394184" indent="-197092" lvl="1">
                <a:lnSpc>
                  <a:spcPts val="2464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b="true" sz="1825" spc="109" u="none">
                  <a:solidFill>
                    <a:srgbClr val="F1F0EC"/>
                  </a:solidFill>
                  <a:latin typeface="Public Sans 1 Medium"/>
                  <a:ea typeface="Public Sans 1 Medium"/>
                  <a:cs typeface="Public Sans 1 Medium"/>
                  <a:sym typeface="Public Sans 1 Medium"/>
                </a:rPr>
                <a:t>Imputation: Filled missing Start/End dates to enable timeline analysis.</a:t>
              </a:r>
            </a:p>
            <a:p>
              <a:pPr algn="l" marL="394184" indent="-197092" lvl="1">
                <a:lnSpc>
                  <a:spcPts val="2464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b="true" sz="1825" spc="109" u="none">
                  <a:solidFill>
                    <a:srgbClr val="F1F0EC"/>
                  </a:solidFill>
                  <a:latin typeface="Public Sans 1 Medium"/>
                  <a:ea typeface="Public Sans 1 Medium"/>
                  <a:cs typeface="Public Sans 1 Medium"/>
                  <a:sym typeface="Public Sans 1 Medium"/>
                </a:rPr>
                <a:t>Feature Engineering: Created Approval_Delay_Days and Contract_Duration to measure operational efficiency.</a:t>
              </a:r>
            </a:p>
            <a:p>
              <a:pPr algn="l" marL="0" indent="0" lvl="0">
                <a:lnSpc>
                  <a:spcPts val="2464"/>
                </a:lnSpc>
                <a:spcBef>
                  <a:spcPct val="0"/>
                </a:spcBef>
              </a:pP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6787454" y="764769"/>
              <a:ext cx="3798385" cy="11936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350"/>
                </a:lnSpc>
              </a:pPr>
              <a:r>
                <a:rPr lang="en-US" sz="3490" spc="-286">
                  <a:solidFill>
                    <a:srgbClr val="F1F0EC"/>
                  </a:solidFill>
                  <a:latin typeface="Public Sans 1"/>
                  <a:ea typeface="Public Sans 1"/>
                  <a:cs typeface="Public Sans 1"/>
                  <a:sym typeface="Public Sans 1"/>
                </a:rPr>
                <a:t>Data Cleaning (Key Actions)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11736209" y="2228523"/>
              <a:ext cx="5179477" cy="530163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394184" indent="-197092" lvl="1">
                <a:lnSpc>
                  <a:spcPts val="2464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b="true" sz="1825" spc="109">
                  <a:solidFill>
                    <a:srgbClr val="F1F0EC"/>
                  </a:solidFill>
                  <a:latin typeface="Public Sans 1 Medium"/>
                  <a:ea typeface="Public Sans 1 Medium"/>
                  <a:cs typeface="Public Sans 1 Medium"/>
                  <a:sym typeface="Public Sans 1 Medium"/>
                </a:rPr>
                <a:t>C</a:t>
              </a:r>
              <a:r>
                <a:rPr lang="en-US" b="true" sz="1825" spc="109" u="none">
                  <a:solidFill>
                    <a:srgbClr val="F1F0EC"/>
                  </a:solidFill>
                  <a:latin typeface="Public Sans 1 Medium"/>
                  <a:ea typeface="Public Sans 1 Medium"/>
                  <a:cs typeface="Public Sans 1 Medium"/>
                  <a:sym typeface="Public Sans 1 Medium"/>
                </a:rPr>
                <a:t>reated a comprehensive Data Dictionary to track the transformation pipeline.</a:t>
              </a:r>
            </a:p>
            <a:p>
              <a:pPr algn="just" marL="394184" indent="-197092" lvl="1">
                <a:lnSpc>
                  <a:spcPts val="2464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b="true" sz="1825" spc="109" u="none">
                  <a:solidFill>
                    <a:srgbClr val="F1F0EC"/>
                  </a:solidFill>
                  <a:latin typeface="Public Sans 1 Medium"/>
                  <a:ea typeface="Public Sans 1 Medium"/>
                  <a:cs typeface="Public Sans 1 Medium"/>
                  <a:sym typeface="Public Sans 1 Medium"/>
                </a:rPr>
                <a:t>Documented data types, mapped raw columns to cleaned features, and recorded every "Issue Found" against its specific "Cleaning Action Taken" to ensure data integrity and reproducibility.</a:t>
              </a:r>
            </a:p>
            <a:p>
              <a:pPr algn="just" marL="0" indent="0" lvl="0">
                <a:lnSpc>
                  <a:spcPts val="2464"/>
                </a:lnSpc>
                <a:spcBef>
                  <a:spcPct val="0"/>
                </a:spcBef>
              </a:pPr>
            </a:p>
            <a:p>
              <a:pPr algn="just" marL="0" indent="0" lvl="0">
                <a:lnSpc>
                  <a:spcPts val="2464"/>
                </a:lnSpc>
                <a:spcBef>
                  <a:spcPct val="0"/>
                </a:spcBef>
              </a:pP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12197802" y="687024"/>
              <a:ext cx="4717884" cy="11936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350"/>
                </a:lnSpc>
              </a:pPr>
              <a:r>
                <a:rPr lang="en-US" sz="3490" spc="-286">
                  <a:solidFill>
                    <a:srgbClr val="F1F0EC"/>
                  </a:solidFill>
                  <a:latin typeface="Public Sans 1"/>
                  <a:ea typeface="Public Sans 1"/>
                  <a:cs typeface="Public Sans 1"/>
                  <a:sym typeface="Public Sans 1"/>
                </a:rPr>
                <a:t>Data Dictionary </a:t>
              </a:r>
            </a:p>
            <a:p>
              <a:pPr algn="ctr">
                <a:lnSpc>
                  <a:spcPts val="3350"/>
                </a:lnSpc>
              </a:pPr>
              <a:r>
                <a:rPr lang="en-US" sz="3490" spc="-286">
                  <a:solidFill>
                    <a:srgbClr val="F1F0EC"/>
                  </a:solidFill>
                  <a:latin typeface="Public Sans 1"/>
                  <a:ea typeface="Public Sans 1"/>
                  <a:cs typeface="Public Sans 1"/>
                  <a:sym typeface="Public Sans 1"/>
                </a:rPr>
                <a:t>(The "Governance")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585972" y="1219200"/>
            <a:ext cx="8261242" cy="21259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59"/>
              </a:lnSpc>
            </a:pPr>
            <a:r>
              <a:rPr lang="en-US" sz="8499" spc="-696" b="true">
                <a:solidFill>
                  <a:srgbClr val="3A855D"/>
                </a:solidFill>
                <a:latin typeface="Public Sans 1 Bold"/>
                <a:ea typeface="Public Sans 1 Bold"/>
                <a:cs typeface="Public Sans 1 Bold"/>
                <a:sym typeface="Public Sans 1 Bold"/>
              </a:rPr>
              <a:t>KPI &amp; Metrics Framework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028700" y="-1245813"/>
            <a:ext cx="314174" cy="12004159"/>
            <a:chOff x="0" y="0"/>
            <a:chExt cx="87993" cy="336208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7993" cy="3362084"/>
            </a:xfrm>
            <a:custGeom>
              <a:avLst/>
              <a:gdLst/>
              <a:ahLst/>
              <a:cxnLst/>
              <a:rect r="r" b="b" t="t" l="l"/>
              <a:pathLst>
                <a:path h="3362084" w="87993">
                  <a:moveTo>
                    <a:pt x="43996" y="0"/>
                  </a:moveTo>
                  <a:lnTo>
                    <a:pt x="43996" y="0"/>
                  </a:lnTo>
                  <a:cubicBezTo>
                    <a:pt x="68295" y="0"/>
                    <a:pt x="87993" y="19698"/>
                    <a:pt x="87993" y="43996"/>
                  </a:cubicBezTo>
                  <a:lnTo>
                    <a:pt x="87993" y="3318088"/>
                  </a:lnTo>
                  <a:cubicBezTo>
                    <a:pt x="87993" y="3342386"/>
                    <a:pt x="68295" y="3362084"/>
                    <a:pt x="43996" y="3362084"/>
                  </a:cubicBezTo>
                  <a:lnTo>
                    <a:pt x="43996" y="3362084"/>
                  </a:lnTo>
                  <a:cubicBezTo>
                    <a:pt x="19698" y="3362084"/>
                    <a:pt x="0" y="3342386"/>
                    <a:pt x="0" y="3318088"/>
                  </a:cubicBezTo>
                  <a:lnTo>
                    <a:pt x="0" y="43996"/>
                  </a:lnTo>
                  <a:cubicBezTo>
                    <a:pt x="0" y="19698"/>
                    <a:pt x="19698" y="0"/>
                    <a:pt x="43996" y="0"/>
                  </a:cubicBezTo>
                  <a:close/>
                </a:path>
              </a:pathLst>
            </a:custGeom>
            <a:solidFill>
              <a:srgbClr val="3A855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85725"/>
              <a:ext cx="87993" cy="32763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5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3132816" y="4543766"/>
            <a:ext cx="4689272" cy="3494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08"/>
              </a:lnSpc>
              <a:spcBef>
                <a:spcPct val="0"/>
              </a:spcBef>
            </a:pPr>
            <a:r>
              <a:rPr lang="en-US" b="true" sz="2508" spc="-198">
                <a:solidFill>
                  <a:srgbClr val="3A855D"/>
                </a:solidFill>
                <a:latin typeface="Public Sans 2 Bold"/>
                <a:ea typeface="Public Sans 2 Bold"/>
                <a:cs typeface="Public Sans 2 Bold"/>
                <a:sym typeface="Public Sans 2 Bold"/>
              </a:rPr>
              <a:t>Primary KPIs :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007199" y="4867985"/>
            <a:ext cx="5868194" cy="2975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53388" indent="-226694" lvl="1">
              <a:lnSpc>
                <a:spcPts val="2939"/>
              </a:lnSpc>
              <a:spcBef>
                <a:spcPct val="0"/>
              </a:spcBef>
              <a:buFont typeface="Arial"/>
              <a:buChar char="•"/>
            </a:pPr>
            <a:r>
              <a:rPr lang="en-US" sz="2099">
                <a:solidFill>
                  <a:srgbClr val="3A855D"/>
                </a:solidFill>
                <a:latin typeface="Public Sans 2"/>
                <a:ea typeface="Public Sans 2"/>
                <a:cs typeface="Public Sans 2"/>
                <a:sym typeface="Public Sans 2"/>
              </a:rPr>
              <a:t>T</a:t>
            </a:r>
            <a:r>
              <a:rPr lang="en-US" sz="2099">
                <a:solidFill>
                  <a:srgbClr val="3A855D"/>
                </a:solidFill>
                <a:latin typeface="Public Sans 2"/>
                <a:ea typeface="Public Sans 2"/>
                <a:cs typeface="Public Sans 2"/>
                <a:sym typeface="Public Sans 2"/>
              </a:rPr>
              <a:t>otal Spend: $31.56 Billion (Measures Financial Scale).</a:t>
            </a:r>
          </a:p>
          <a:p>
            <a:pPr algn="just" marL="453388" indent="-226694" lvl="1">
              <a:lnSpc>
                <a:spcPts val="2939"/>
              </a:lnSpc>
              <a:spcBef>
                <a:spcPct val="0"/>
              </a:spcBef>
              <a:buFont typeface="Arial"/>
              <a:buChar char="•"/>
            </a:pPr>
            <a:r>
              <a:rPr lang="en-US" sz="2099">
                <a:solidFill>
                  <a:srgbClr val="3A855D"/>
                </a:solidFill>
                <a:latin typeface="Public Sans 2"/>
                <a:ea typeface="Public Sans 2"/>
                <a:cs typeface="Public Sans 2"/>
                <a:sym typeface="Public Sans 2"/>
              </a:rPr>
              <a:t>Avg Approval Delay: 1180 Days (Measures Administrative Efficiency).</a:t>
            </a:r>
          </a:p>
          <a:p>
            <a:pPr algn="just" marL="453388" indent="-226694" lvl="1">
              <a:lnSpc>
                <a:spcPts val="2939"/>
              </a:lnSpc>
              <a:spcBef>
                <a:spcPct val="0"/>
              </a:spcBef>
              <a:buFont typeface="Arial"/>
              <a:buChar char="•"/>
            </a:pPr>
            <a:r>
              <a:rPr lang="en-US" sz="2099">
                <a:solidFill>
                  <a:srgbClr val="3A855D"/>
                </a:solidFill>
                <a:latin typeface="Public Sans 2"/>
                <a:ea typeface="Public Sans 2"/>
                <a:cs typeface="Public Sans 2"/>
                <a:sym typeface="Public Sans 2"/>
              </a:rPr>
              <a:t>Negative Mods</a:t>
            </a:r>
            <a:r>
              <a:rPr lang="en-US" sz="2099">
                <a:solidFill>
                  <a:srgbClr val="3A855D"/>
                </a:solidFill>
                <a:latin typeface="Public Sans 2"/>
                <a:ea typeface="Public Sans 2"/>
                <a:cs typeface="Public Sans 2"/>
                <a:sym typeface="Public Sans 2"/>
              </a:rPr>
              <a:t>: 80 (Measures Negative ).</a:t>
            </a:r>
          </a:p>
          <a:p>
            <a:pPr algn="just" marL="453388" indent="-226694" lvl="1">
              <a:lnSpc>
                <a:spcPts val="2939"/>
              </a:lnSpc>
              <a:spcBef>
                <a:spcPct val="0"/>
              </a:spcBef>
              <a:buFont typeface="Arial"/>
              <a:buChar char="•"/>
            </a:pPr>
            <a:r>
              <a:rPr lang="en-US" sz="2099">
                <a:solidFill>
                  <a:srgbClr val="3A855D"/>
                </a:solidFill>
                <a:latin typeface="Public Sans 2"/>
                <a:ea typeface="Public Sans 2"/>
                <a:cs typeface="Public Sans 2"/>
                <a:sym typeface="Public Sans 2"/>
              </a:rPr>
              <a:t>% High Value Contracts: 10.9% (Measures Portfolio Complexity).</a:t>
            </a:r>
          </a:p>
          <a:p>
            <a:pPr algn="just">
              <a:lnSpc>
                <a:spcPts val="2939"/>
              </a:lnSpc>
              <a:spcBef>
                <a:spcPct val="0"/>
              </a:spcBef>
            </a:pPr>
          </a:p>
        </p:txBody>
      </p:sp>
      <p:sp>
        <p:nvSpPr>
          <p:cNvPr name="AutoShape 8" id="8"/>
          <p:cNvSpPr/>
          <p:nvPr/>
        </p:nvSpPr>
        <p:spPr>
          <a:xfrm flipH="true" flipV="true">
            <a:off x="9847485" y="4515191"/>
            <a:ext cx="0" cy="3510860"/>
          </a:xfrm>
          <a:prstGeom prst="line">
            <a:avLst/>
          </a:prstGeom>
          <a:ln cap="flat" w="9525">
            <a:solidFill>
              <a:srgbClr val="3A855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9" id="9"/>
          <p:cNvSpPr txBox="true"/>
          <p:nvPr/>
        </p:nvSpPr>
        <p:spPr>
          <a:xfrm rot="0">
            <a:off x="10823797" y="4543766"/>
            <a:ext cx="4689272" cy="663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08"/>
              </a:lnSpc>
            </a:pPr>
            <a:r>
              <a:rPr lang="en-US" b="true" sz="2508" spc="-198">
                <a:solidFill>
                  <a:srgbClr val="3A855D"/>
                </a:solidFill>
                <a:latin typeface="Public Sans 2 Bold"/>
                <a:ea typeface="Public Sans 2 Bold"/>
                <a:cs typeface="Public Sans 2 Bold"/>
                <a:sym typeface="Public Sans 2 Bold"/>
              </a:rPr>
              <a:t>Why These KPIs?</a:t>
            </a:r>
          </a:p>
          <a:p>
            <a:pPr algn="l" marL="0" indent="0" lvl="0">
              <a:lnSpc>
                <a:spcPts val="2508"/>
              </a:lnSpc>
              <a:spcBef>
                <a:spcPct val="0"/>
              </a:spcBef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0823797" y="4932037"/>
            <a:ext cx="5868194" cy="2232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3A855D"/>
                </a:solidFill>
                <a:latin typeface="Public Sans 2"/>
                <a:ea typeface="Public Sans 2"/>
                <a:cs typeface="Public Sans 2"/>
                <a:sym typeface="Public Sans 2"/>
              </a:rPr>
              <a:t>We chose a mix of Financial (Spend), Operational (Delay), and Risk (Concentration) metrics to provide a holistic "Health Check" of the procurement system, rather than just looking at costs.</a:t>
            </a:r>
          </a:p>
          <a:p>
            <a:pPr algn="l">
              <a:lnSpc>
                <a:spcPts val="293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124623"/>
            <a:ext cx="4494107" cy="3922955"/>
            <a:chOff x="0" y="0"/>
            <a:chExt cx="1258694" cy="109872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58694" cy="1098728"/>
            </a:xfrm>
            <a:custGeom>
              <a:avLst/>
              <a:gdLst/>
              <a:ahLst/>
              <a:cxnLst/>
              <a:rect r="r" b="b" t="t" l="l"/>
              <a:pathLst>
                <a:path h="1098728" w="1258694">
                  <a:moveTo>
                    <a:pt x="25840" y="0"/>
                  </a:moveTo>
                  <a:lnTo>
                    <a:pt x="1232854" y="0"/>
                  </a:lnTo>
                  <a:cubicBezTo>
                    <a:pt x="1239707" y="0"/>
                    <a:pt x="1246280" y="2722"/>
                    <a:pt x="1251126" y="7568"/>
                  </a:cubicBezTo>
                  <a:cubicBezTo>
                    <a:pt x="1255972" y="12414"/>
                    <a:pt x="1258694" y="18987"/>
                    <a:pt x="1258694" y="25840"/>
                  </a:cubicBezTo>
                  <a:lnTo>
                    <a:pt x="1258694" y="1072888"/>
                  </a:lnTo>
                  <a:cubicBezTo>
                    <a:pt x="1258694" y="1087159"/>
                    <a:pt x="1247125" y="1098728"/>
                    <a:pt x="1232854" y="1098728"/>
                  </a:cubicBezTo>
                  <a:lnTo>
                    <a:pt x="25840" y="1098728"/>
                  </a:lnTo>
                  <a:cubicBezTo>
                    <a:pt x="11569" y="1098728"/>
                    <a:pt x="0" y="1087159"/>
                    <a:pt x="0" y="1072888"/>
                  </a:cubicBezTo>
                  <a:lnTo>
                    <a:pt x="0" y="25840"/>
                  </a:lnTo>
                  <a:cubicBezTo>
                    <a:pt x="0" y="11569"/>
                    <a:pt x="11569" y="0"/>
                    <a:pt x="25840" y="0"/>
                  </a:cubicBezTo>
                  <a:close/>
                </a:path>
              </a:pathLst>
            </a:custGeom>
            <a:solidFill>
              <a:srgbClr val="3A855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85725"/>
              <a:ext cx="1258694" cy="10130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5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5239423"/>
            <a:ext cx="4494107" cy="3922955"/>
            <a:chOff x="0" y="0"/>
            <a:chExt cx="1258694" cy="109872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58694" cy="1098728"/>
            </a:xfrm>
            <a:custGeom>
              <a:avLst/>
              <a:gdLst/>
              <a:ahLst/>
              <a:cxnLst/>
              <a:rect r="r" b="b" t="t" l="l"/>
              <a:pathLst>
                <a:path h="1098728" w="1258694">
                  <a:moveTo>
                    <a:pt x="25840" y="0"/>
                  </a:moveTo>
                  <a:lnTo>
                    <a:pt x="1232854" y="0"/>
                  </a:lnTo>
                  <a:cubicBezTo>
                    <a:pt x="1239707" y="0"/>
                    <a:pt x="1246280" y="2722"/>
                    <a:pt x="1251126" y="7568"/>
                  </a:cubicBezTo>
                  <a:cubicBezTo>
                    <a:pt x="1255972" y="12414"/>
                    <a:pt x="1258694" y="18987"/>
                    <a:pt x="1258694" y="25840"/>
                  </a:cubicBezTo>
                  <a:lnTo>
                    <a:pt x="1258694" y="1072888"/>
                  </a:lnTo>
                  <a:cubicBezTo>
                    <a:pt x="1258694" y="1087159"/>
                    <a:pt x="1247125" y="1098728"/>
                    <a:pt x="1232854" y="1098728"/>
                  </a:cubicBezTo>
                  <a:lnTo>
                    <a:pt x="25840" y="1098728"/>
                  </a:lnTo>
                  <a:cubicBezTo>
                    <a:pt x="11569" y="1098728"/>
                    <a:pt x="0" y="1087159"/>
                    <a:pt x="0" y="1072888"/>
                  </a:cubicBezTo>
                  <a:lnTo>
                    <a:pt x="0" y="25840"/>
                  </a:lnTo>
                  <a:cubicBezTo>
                    <a:pt x="0" y="11569"/>
                    <a:pt x="11569" y="0"/>
                    <a:pt x="25840" y="0"/>
                  </a:cubicBezTo>
                  <a:close/>
                </a:path>
              </a:pathLst>
            </a:custGeom>
            <a:solidFill>
              <a:srgbClr val="3A855D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85725"/>
              <a:ext cx="1258694" cy="10130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5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761288" y="1124623"/>
            <a:ext cx="4494107" cy="3922955"/>
            <a:chOff x="0" y="0"/>
            <a:chExt cx="1258694" cy="109872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58694" cy="1098728"/>
            </a:xfrm>
            <a:custGeom>
              <a:avLst/>
              <a:gdLst/>
              <a:ahLst/>
              <a:cxnLst/>
              <a:rect r="r" b="b" t="t" l="l"/>
              <a:pathLst>
                <a:path h="1098728" w="1258694">
                  <a:moveTo>
                    <a:pt x="25840" y="0"/>
                  </a:moveTo>
                  <a:lnTo>
                    <a:pt x="1232854" y="0"/>
                  </a:lnTo>
                  <a:cubicBezTo>
                    <a:pt x="1239707" y="0"/>
                    <a:pt x="1246280" y="2722"/>
                    <a:pt x="1251126" y="7568"/>
                  </a:cubicBezTo>
                  <a:cubicBezTo>
                    <a:pt x="1255972" y="12414"/>
                    <a:pt x="1258694" y="18987"/>
                    <a:pt x="1258694" y="25840"/>
                  </a:cubicBezTo>
                  <a:lnTo>
                    <a:pt x="1258694" y="1072888"/>
                  </a:lnTo>
                  <a:cubicBezTo>
                    <a:pt x="1258694" y="1087159"/>
                    <a:pt x="1247125" y="1098728"/>
                    <a:pt x="1232854" y="1098728"/>
                  </a:cubicBezTo>
                  <a:lnTo>
                    <a:pt x="25840" y="1098728"/>
                  </a:lnTo>
                  <a:cubicBezTo>
                    <a:pt x="11569" y="1098728"/>
                    <a:pt x="0" y="1087159"/>
                    <a:pt x="0" y="1072888"/>
                  </a:cubicBezTo>
                  <a:lnTo>
                    <a:pt x="0" y="25840"/>
                  </a:lnTo>
                  <a:cubicBezTo>
                    <a:pt x="0" y="11569"/>
                    <a:pt x="11569" y="0"/>
                    <a:pt x="25840" y="0"/>
                  </a:cubicBezTo>
                  <a:close/>
                </a:path>
              </a:pathLst>
            </a:custGeom>
            <a:solidFill>
              <a:srgbClr val="3A855D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85725"/>
              <a:ext cx="1258694" cy="10130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5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2761288" y="5239423"/>
            <a:ext cx="4494107" cy="3922955"/>
            <a:chOff x="0" y="0"/>
            <a:chExt cx="1258694" cy="109872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258694" cy="1098728"/>
            </a:xfrm>
            <a:custGeom>
              <a:avLst/>
              <a:gdLst/>
              <a:ahLst/>
              <a:cxnLst/>
              <a:rect r="r" b="b" t="t" l="l"/>
              <a:pathLst>
                <a:path h="1098728" w="1258694">
                  <a:moveTo>
                    <a:pt x="25840" y="0"/>
                  </a:moveTo>
                  <a:lnTo>
                    <a:pt x="1232854" y="0"/>
                  </a:lnTo>
                  <a:cubicBezTo>
                    <a:pt x="1239707" y="0"/>
                    <a:pt x="1246280" y="2722"/>
                    <a:pt x="1251126" y="7568"/>
                  </a:cubicBezTo>
                  <a:cubicBezTo>
                    <a:pt x="1255972" y="12414"/>
                    <a:pt x="1258694" y="18987"/>
                    <a:pt x="1258694" y="25840"/>
                  </a:cubicBezTo>
                  <a:lnTo>
                    <a:pt x="1258694" y="1072888"/>
                  </a:lnTo>
                  <a:cubicBezTo>
                    <a:pt x="1258694" y="1087159"/>
                    <a:pt x="1247125" y="1098728"/>
                    <a:pt x="1232854" y="1098728"/>
                  </a:cubicBezTo>
                  <a:lnTo>
                    <a:pt x="25840" y="1098728"/>
                  </a:lnTo>
                  <a:cubicBezTo>
                    <a:pt x="11569" y="1098728"/>
                    <a:pt x="0" y="1087159"/>
                    <a:pt x="0" y="1072888"/>
                  </a:cubicBezTo>
                  <a:lnTo>
                    <a:pt x="0" y="25840"/>
                  </a:lnTo>
                  <a:cubicBezTo>
                    <a:pt x="0" y="11569"/>
                    <a:pt x="11569" y="0"/>
                    <a:pt x="25840" y="0"/>
                  </a:cubicBezTo>
                  <a:close/>
                </a:path>
              </a:pathLst>
            </a:custGeom>
            <a:solidFill>
              <a:srgbClr val="3A855D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85725"/>
              <a:ext cx="1258694" cy="10130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5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-7900054">
            <a:off x="6110369" y="2475306"/>
            <a:ext cx="1066177" cy="478811"/>
          </a:xfrm>
          <a:custGeom>
            <a:avLst/>
            <a:gdLst/>
            <a:ahLst/>
            <a:cxnLst/>
            <a:rect r="r" b="b" t="t" l="l"/>
            <a:pathLst>
              <a:path h="478811" w="1066177">
                <a:moveTo>
                  <a:pt x="0" y="0"/>
                </a:moveTo>
                <a:lnTo>
                  <a:pt x="1066177" y="0"/>
                </a:lnTo>
                <a:lnTo>
                  <a:pt x="1066177" y="478810"/>
                </a:lnTo>
                <a:lnTo>
                  <a:pt x="0" y="4788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-2700000">
            <a:off x="11206941" y="2487377"/>
            <a:ext cx="1066177" cy="478811"/>
          </a:xfrm>
          <a:custGeom>
            <a:avLst/>
            <a:gdLst/>
            <a:ahLst/>
            <a:cxnLst/>
            <a:rect r="r" b="b" t="t" l="l"/>
            <a:pathLst>
              <a:path h="478811" w="1066177">
                <a:moveTo>
                  <a:pt x="0" y="0"/>
                </a:moveTo>
                <a:lnTo>
                  <a:pt x="1066177" y="0"/>
                </a:lnTo>
                <a:lnTo>
                  <a:pt x="1066177" y="478810"/>
                </a:lnTo>
                <a:lnTo>
                  <a:pt x="0" y="4788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3209977">
            <a:off x="11170248" y="7319337"/>
            <a:ext cx="1066177" cy="478811"/>
          </a:xfrm>
          <a:custGeom>
            <a:avLst/>
            <a:gdLst/>
            <a:ahLst/>
            <a:cxnLst/>
            <a:rect r="r" b="b" t="t" l="l"/>
            <a:pathLst>
              <a:path h="478811" w="1066177">
                <a:moveTo>
                  <a:pt x="0" y="0"/>
                </a:moveTo>
                <a:lnTo>
                  <a:pt x="1066177" y="0"/>
                </a:lnTo>
                <a:lnTo>
                  <a:pt x="1066177" y="478811"/>
                </a:lnTo>
                <a:lnTo>
                  <a:pt x="0" y="4788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7866361">
            <a:off x="5999518" y="7293938"/>
            <a:ext cx="1066177" cy="478811"/>
          </a:xfrm>
          <a:custGeom>
            <a:avLst/>
            <a:gdLst/>
            <a:ahLst/>
            <a:cxnLst/>
            <a:rect r="r" b="b" t="t" l="l"/>
            <a:pathLst>
              <a:path h="478811" w="1066177">
                <a:moveTo>
                  <a:pt x="0" y="0"/>
                </a:moveTo>
                <a:lnTo>
                  <a:pt x="1066178" y="0"/>
                </a:lnTo>
                <a:lnTo>
                  <a:pt x="1066178" y="478811"/>
                </a:lnTo>
                <a:lnTo>
                  <a:pt x="0" y="4788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8467582" y="1363193"/>
            <a:ext cx="1352836" cy="1444777"/>
          </a:xfrm>
          <a:custGeom>
            <a:avLst/>
            <a:gdLst/>
            <a:ahLst/>
            <a:cxnLst/>
            <a:rect r="r" b="b" t="t" l="l"/>
            <a:pathLst>
              <a:path h="1444777" w="1352836">
                <a:moveTo>
                  <a:pt x="0" y="0"/>
                </a:moveTo>
                <a:lnTo>
                  <a:pt x="1352836" y="0"/>
                </a:lnTo>
                <a:lnTo>
                  <a:pt x="1352836" y="1444777"/>
                </a:lnTo>
                <a:lnTo>
                  <a:pt x="0" y="144477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6408832" y="4755832"/>
            <a:ext cx="5470336" cy="918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20"/>
              </a:lnSpc>
            </a:pPr>
            <a:r>
              <a:rPr lang="en-US" sz="7000" spc="-574">
                <a:solidFill>
                  <a:srgbClr val="3A855D"/>
                </a:solidFill>
                <a:latin typeface="Public Sans 1"/>
                <a:ea typeface="Public Sans 1"/>
                <a:cs typeface="Public Sans 1"/>
                <a:sym typeface="Public Sans 1"/>
              </a:rPr>
              <a:t>Key Insights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501019" y="2788920"/>
            <a:ext cx="3549470" cy="944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890"/>
              </a:lnSpc>
              <a:spcBef>
                <a:spcPct val="0"/>
              </a:spcBef>
            </a:pPr>
            <a:r>
              <a:rPr lang="en-US" b="true" sz="1400" spc="84">
                <a:solidFill>
                  <a:srgbClr val="F1F0EC"/>
                </a:solidFill>
                <a:latin typeface="Public Sans 1 Medium"/>
                <a:ea typeface="Public Sans 1 Medium"/>
                <a:cs typeface="Public Sans 1 Medium"/>
                <a:sym typeface="Public Sans 1 Medium"/>
              </a:rPr>
              <a:t>Sp</a:t>
            </a:r>
            <a:r>
              <a:rPr lang="en-US" b="true" sz="1400" spc="84" u="none">
                <a:solidFill>
                  <a:srgbClr val="F1F0EC"/>
                </a:solidFill>
                <a:latin typeface="Public Sans 1 Medium"/>
                <a:ea typeface="Public Sans 1 Medium"/>
                <a:cs typeface="Public Sans 1 Medium"/>
                <a:sym typeface="Public Sans 1 Medium"/>
              </a:rPr>
              <a:t>ending is highly concentrated. The Department of Finance and Aviation alone account for over 35% of the total budget.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942706" y="1672966"/>
            <a:ext cx="2631431" cy="8919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1"/>
              </a:lnSpc>
            </a:pPr>
            <a:r>
              <a:rPr lang="en-US" sz="3501" spc="-287">
                <a:solidFill>
                  <a:srgbClr val="F1F0EC"/>
                </a:solidFill>
                <a:latin typeface="Public Sans 1"/>
                <a:ea typeface="Public Sans 1"/>
                <a:cs typeface="Public Sans 1"/>
                <a:sym typeface="Public Sans 1"/>
              </a:rPr>
              <a:t>Observation 1 </a:t>
            </a:r>
          </a:p>
          <a:p>
            <a:pPr algn="ctr">
              <a:lnSpc>
                <a:spcPts val="3361"/>
              </a:lnSpc>
            </a:pPr>
            <a:r>
              <a:rPr lang="en-US" sz="3501" spc="-287">
                <a:solidFill>
                  <a:srgbClr val="F1F0EC"/>
                </a:solidFill>
                <a:latin typeface="Public Sans 1"/>
                <a:ea typeface="Public Sans 1"/>
                <a:cs typeface="Public Sans 1"/>
                <a:sym typeface="Public Sans 1"/>
              </a:rPr>
              <a:t>(The Whale)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483686" y="6903720"/>
            <a:ext cx="3549470" cy="944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890"/>
              </a:lnSpc>
              <a:spcBef>
                <a:spcPct val="0"/>
              </a:spcBef>
            </a:pPr>
            <a:r>
              <a:rPr lang="en-US" b="true" sz="1400" spc="84">
                <a:solidFill>
                  <a:srgbClr val="F1F0EC"/>
                </a:solidFill>
                <a:latin typeface="Public Sans 1 Medium"/>
                <a:ea typeface="Public Sans 1 Medium"/>
                <a:cs typeface="Public Sans 1 Medium"/>
                <a:sym typeface="Public Sans 1 Medium"/>
              </a:rPr>
              <a:t>Th</a:t>
            </a:r>
            <a:r>
              <a:rPr lang="en-US" b="true" sz="1400" spc="84" u="none">
                <a:solidFill>
                  <a:srgbClr val="F1F0EC"/>
                </a:solidFill>
                <a:latin typeface="Public Sans 1 Medium"/>
                <a:ea typeface="Public Sans 1 Medium"/>
                <a:cs typeface="Public Sans 1 Medium"/>
                <a:sym typeface="Public Sans 1 Medium"/>
              </a:rPr>
              <a:t>e top 5 vendors control nearly 30% of the entire city spend. The largest single vendor (Blue Cross Blue Shield) takes ~15% of the total pie.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233606" y="6903720"/>
            <a:ext cx="3549470" cy="1183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890"/>
              </a:lnSpc>
              <a:spcBef>
                <a:spcPct val="0"/>
              </a:spcBef>
            </a:pPr>
            <a:r>
              <a:rPr lang="en-US" b="true" sz="1400" spc="84">
                <a:solidFill>
                  <a:srgbClr val="F1F0EC"/>
                </a:solidFill>
                <a:latin typeface="Public Sans 1 Medium"/>
                <a:ea typeface="Public Sans 1 Medium"/>
                <a:cs typeface="Public Sans 1 Medium"/>
                <a:sym typeface="Public Sans 1 Medium"/>
              </a:rPr>
              <a:t>25%</a:t>
            </a:r>
            <a:r>
              <a:rPr lang="en-US" b="true" sz="1400" spc="84" u="none">
                <a:solidFill>
                  <a:srgbClr val="F1F0EC"/>
                </a:solidFill>
                <a:latin typeface="Public Sans 1 Medium"/>
                <a:ea typeface="Public Sans 1 Medium"/>
                <a:cs typeface="Public Sans 1 Medium"/>
                <a:sym typeface="Public Sans 1 Medium"/>
              </a:rPr>
              <a:t> of contracts are "Depends Upon Requirements" (Blanket Contracts), meaning the city has indefinite financial commitments without fixed caps.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501019" y="5740718"/>
            <a:ext cx="3580101" cy="8919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1"/>
              </a:lnSpc>
            </a:pPr>
            <a:r>
              <a:rPr lang="en-US" sz="3501" spc="-287">
                <a:solidFill>
                  <a:srgbClr val="F1F0EC"/>
                </a:solidFill>
                <a:latin typeface="Public Sans 1"/>
                <a:ea typeface="Public Sans 1"/>
                <a:cs typeface="Public Sans 1"/>
                <a:sym typeface="Public Sans 1"/>
              </a:rPr>
              <a:t>Observation 2</a:t>
            </a:r>
          </a:p>
          <a:p>
            <a:pPr algn="ctr">
              <a:lnSpc>
                <a:spcPts val="3361"/>
              </a:lnSpc>
            </a:pPr>
            <a:r>
              <a:rPr lang="en-US" sz="3501" spc="-287">
                <a:solidFill>
                  <a:srgbClr val="F1F0EC"/>
                </a:solidFill>
                <a:latin typeface="Public Sans 1"/>
                <a:ea typeface="Public Sans 1"/>
                <a:cs typeface="Public Sans 1"/>
                <a:sym typeface="Public Sans 1"/>
              </a:rPr>
              <a:t>(Vendor Monopoly)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3122909" y="2845657"/>
            <a:ext cx="3549470" cy="944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890"/>
              </a:lnSpc>
              <a:spcBef>
                <a:spcPct val="0"/>
              </a:spcBef>
            </a:pPr>
            <a:r>
              <a:rPr lang="en-US" b="true" sz="1400" spc="84">
                <a:solidFill>
                  <a:srgbClr val="F1F0EC"/>
                </a:solidFill>
                <a:latin typeface="Public Sans 1 Medium"/>
                <a:ea typeface="Public Sans 1 Medium"/>
                <a:cs typeface="Public Sans 1 Medium"/>
                <a:sym typeface="Public Sans 1 Medium"/>
              </a:rPr>
              <a:t>Th</a:t>
            </a:r>
            <a:r>
              <a:rPr lang="en-US" b="true" sz="1400" spc="84" u="none">
                <a:solidFill>
                  <a:srgbClr val="F1F0EC"/>
                </a:solidFill>
                <a:latin typeface="Public Sans 1 Medium"/>
                <a:ea typeface="Public Sans 1 Medium"/>
                <a:cs typeface="Public Sans 1 Medium"/>
                <a:sym typeface="Public Sans 1 Medium"/>
              </a:rPr>
              <a:t>e average contract takes 805 days (&gt;2 years) to be fully approved, indicating a severe administrative lag.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3454450" y="1672966"/>
            <a:ext cx="3107783" cy="8919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1"/>
              </a:lnSpc>
            </a:pPr>
            <a:r>
              <a:rPr lang="en-US" sz="3501" spc="-287">
                <a:solidFill>
                  <a:srgbClr val="F1F0EC"/>
                </a:solidFill>
                <a:latin typeface="Public Sans 1"/>
                <a:ea typeface="Public Sans 1"/>
                <a:cs typeface="Public Sans 1"/>
                <a:sym typeface="Public Sans 1"/>
              </a:rPr>
              <a:t>Observation 3</a:t>
            </a:r>
          </a:p>
          <a:p>
            <a:pPr algn="ctr">
              <a:lnSpc>
                <a:spcPts val="3361"/>
              </a:lnSpc>
            </a:pPr>
            <a:r>
              <a:rPr lang="en-US" sz="3501" spc="-287">
                <a:solidFill>
                  <a:srgbClr val="F1F0EC"/>
                </a:solidFill>
                <a:latin typeface="Public Sans 1"/>
                <a:ea typeface="Public Sans 1"/>
                <a:cs typeface="Public Sans 1"/>
                <a:sym typeface="Public Sans 1"/>
              </a:rPr>
              <a:t>(The Bottleneck)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3454450" y="5740718"/>
            <a:ext cx="3107783" cy="8919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1"/>
              </a:lnSpc>
            </a:pPr>
            <a:r>
              <a:rPr lang="en-US" sz="3501" spc="-287">
                <a:solidFill>
                  <a:srgbClr val="F1F0EC"/>
                </a:solidFill>
                <a:latin typeface="Public Sans 1"/>
                <a:ea typeface="Public Sans 1"/>
                <a:cs typeface="Public Sans 1"/>
                <a:sym typeface="Public Sans 1"/>
              </a:rPr>
              <a:t>Observation 4</a:t>
            </a:r>
          </a:p>
          <a:p>
            <a:pPr algn="ctr">
              <a:lnSpc>
                <a:spcPts val="3361"/>
              </a:lnSpc>
            </a:pPr>
            <a:r>
              <a:rPr lang="en-US" sz="3501" spc="-287">
                <a:solidFill>
                  <a:srgbClr val="F1F0EC"/>
                </a:solidFill>
                <a:latin typeface="Public Sans 1"/>
                <a:ea typeface="Public Sans 1"/>
                <a:cs typeface="Public Sans 1"/>
                <a:sym typeface="Public Sans 1"/>
              </a:rPr>
              <a:t>(Volatility)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504806" y="2535995"/>
            <a:ext cx="5754494" cy="5215010"/>
          </a:xfrm>
          <a:custGeom>
            <a:avLst/>
            <a:gdLst/>
            <a:ahLst/>
            <a:cxnLst/>
            <a:rect r="r" b="b" t="t" l="l"/>
            <a:pathLst>
              <a:path h="5215010" w="5754494">
                <a:moveTo>
                  <a:pt x="0" y="0"/>
                </a:moveTo>
                <a:lnTo>
                  <a:pt x="5754494" y="0"/>
                </a:lnTo>
                <a:lnTo>
                  <a:pt x="5754494" y="5215010"/>
                </a:lnTo>
                <a:lnTo>
                  <a:pt x="0" y="52150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034803"/>
            <a:ext cx="7796432" cy="21259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59"/>
              </a:lnSpc>
            </a:pPr>
            <a:r>
              <a:rPr lang="en-US" sz="8499" spc="-696" b="true">
                <a:solidFill>
                  <a:srgbClr val="3A855D"/>
                </a:solidFill>
                <a:latin typeface="Public Sans 1 Bold"/>
                <a:ea typeface="Public Sans 1 Bold"/>
                <a:cs typeface="Public Sans 1 Bold"/>
                <a:sym typeface="Public Sans 1 Bold"/>
              </a:rPr>
              <a:t>Advanced Analysis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246026" y="4046545"/>
            <a:ext cx="2954387" cy="415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9"/>
              </a:lnSpc>
              <a:spcBef>
                <a:spcPct val="0"/>
              </a:spcBef>
            </a:pPr>
            <a:r>
              <a:rPr lang="en-US" b="true" sz="2499">
                <a:solidFill>
                  <a:srgbClr val="3A855D"/>
                </a:solidFill>
                <a:latin typeface="Public Sans 2 Bold"/>
                <a:ea typeface="Public Sans 2 Bold"/>
                <a:cs typeface="Public Sans 2 Bold"/>
                <a:sym typeface="Public Sans 2 Bold"/>
              </a:rPr>
              <a:t>Risk Segment</a:t>
            </a:r>
            <a:r>
              <a:rPr lang="en-US" b="true" sz="2499">
                <a:solidFill>
                  <a:srgbClr val="3A855D"/>
                </a:solidFill>
                <a:latin typeface="Public Sans 2 Bold"/>
                <a:ea typeface="Public Sans 2 Bold"/>
                <a:cs typeface="Public Sans 2 Bold"/>
                <a:sym typeface="Public Sans 2 Bold"/>
              </a:rPr>
              <a:t>ation: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4548537"/>
            <a:ext cx="4260749" cy="3746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53390" indent="-226695" lvl="1">
              <a:lnSpc>
                <a:spcPts val="2730"/>
              </a:lnSpc>
              <a:spcBef>
                <a:spcPct val="0"/>
              </a:spcBef>
              <a:buFont typeface="Arial"/>
              <a:buChar char="•"/>
            </a:pPr>
            <a:r>
              <a:rPr lang="en-US" sz="2100">
                <a:solidFill>
                  <a:srgbClr val="3A855D"/>
                </a:solidFill>
                <a:latin typeface="Public Sans 2"/>
                <a:ea typeface="Public Sans 2"/>
                <a:cs typeface="Public Sans 2"/>
                <a:sym typeface="Public Sans 2"/>
              </a:rPr>
              <a:t>We segmented c</a:t>
            </a:r>
            <a:r>
              <a:rPr lang="en-US" sz="2100">
                <a:solidFill>
                  <a:srgbClr val="3A855D"/>
                </a:solidFill>
                <a:latin typeface="Public Sans 2"/>
                <a:ea typeface="Public Sans 2"/>
                <a:cs typeface="Public Sans 2"/>
                <a:sym typeface="Public Sans 2"/>
              </a:rPr>
              <a:t>ontracts by "Risk Flags": High Value, Negative Modifications, and Zero Awards.</a:t>
            </a:r>
          </a:p>
          <a:p>
            <a:pPr algn="just" marL="453390" indent="-226695" lvl="1">
              <a:lnSpc>
                <a:spcPts val="2730"/>
              </a:lnSpc>
              <a:spcBef>
                <a:spcPct val="0"/>
              </a:spcBef>
              <a:buFont typeface="Arial"/>
              <a:buChar char="•"/>
            </a:pPr>
            <a:r>
              <a:rPr lang="en-US" sz="2100">
                <a:solidFill>
                  <a:srgbClr val="3A855D"/>
                </a:solidFill>
                <a:latin typeface="Public Sans 2"/>
                <a:ea typeface="Public Sans 2"/>
                <a:cs typeface="Public Sans 2"/>
                <a:sym typeface="Public Sans 2"/>
              </a:rPr>
              <a:t>Finding: While only 0.8% of contracts have Negative Modifications, these represent specific failures in planning that incur penalties or scope reductions.</a:t>
            </a:r>
          </a:p>
          <a:p>
            <a:pPr algn="ctr">
              <a:lnSpc>
                <a:spcPts val="2470"/>
              </a:lnSpc>
              <a:spcBef>
                <a:spcPct val="0"/>
              </a:spcBef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6340512" y="4046545"/>
            <a:ext cx="3015480" cy="415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9"/>
              </a:lnSpc>
              <a:spcBef>
                <a:spcPct val="0"/>
              </a:spcBef>
            </a:pPr>
            <a:r>
              <a:rPr lang="en-US" b="true" sz="2499">
                <a:solidFill>
                  <a:srgbClr val="3A855D"/>
                </a:solidFill>
                <a:latin typeface="Public Sans 2 Bold"/>
                <a:ea typeface="Public Sans 2 Bold"/>
                <a:cs typeface="Public Sans 2 Bold"/>
                <a:sym typeface="Public Sans 2 Bold"/>
              </a:rPr>
              <a:t>P</a:t>
            </a:r>
            <a:r>
              <a:rPr lang="en-US" b="true" sz="2499">
                <a:solidFill>
                  <a:srgbClr val="3A855D"/>
                </a:solidFill>
                <a:latin typeface="Public Sans 2 Bold"/>
                <a:ea typeface="Public Sans 2 Bold"/>
                <a:cs typeface="Public Sans 2 Bold"/>
                <a:sym typeface="Public Sans 2 Bold"/>
              </a:rPr>
              <a:t>areto Analysis: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340512" y="4548537"/>
            <a:ext cx="4113232" cy="340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53390" indent="-226695" lvl="1">
              <a:lnSpc>
                <a:spcPts val="2730"/>
              </a:lnSpc>
              <a:spcBef>
                <a:spcPct val="0"/>
              </a:spcBef>
              <a:buFont typeface="Arial"/>
              <a:buChar char="•"/>
            </a:pPr>
            <a:r>
              <a:rPr lang="en-US" sz="2100">
                <a:solidFill>
                  <a:srgbClr val="3A855D"/>
                </a:solidFill>
                <a:latin typeface="Public Sans 2"/>
                <a:ea typeface="Public Sans 2"/>
                <a:cs typeface="Public Sans 2"/>
                <a:sym typeface="Public Sans 2"/>
              </a:rPr>
              <a:t>80/20 Rule Confirmed: A small fraction of "Large" c</a:t>
            </a:r>
            <a:r>
              <a:rPr lang="en-US" sz="2100">
                <a:solidFill>
                  <a:srgbClr val="3A855D"/>
                </a:solidFill>
                <a:latin typeface="Public Sans 2"/>
                <a:ea typeface="Public Sans 2"/>
                <a:cs typeface="Public Sans 2"/>
                <a:sym typeface="Public Sans 2"/>
              </a:rPr>
              <a:t>ontracts drives the vast majority of spending.</a:t>
            </a:r>
          </a:p>
          <a:p>
            <a:pPr algn="just" marL="453390" indent="-226695" lvl="1">
              <a:lnSpc>
                <a:spcPts val="2730"/>
              </a:lnSpc>
              <a:spcBef>
                <a:spcPct val="0"/>
              </a:spcBef>
              <a:buFont typeface="Arial"/>
              <a:buChar char="•"/>
            </a:pPr>
            <a:r>
              <a:rPr lang="en-US" sz="2100">
                <a:solidFill>
                  <a:srgbClr val="3A855D"/>
                </a:solidFill>
                <a:latin typeface="Public Sans 2"/>
                <a:ea typeface="Public Sans 2"/>
                <a:cs typeface="Public Sans 2"/>
                <a:sym typeface="Public Sans 2"/>
              </a:rPr>
              <a:t>Insight: Operational focus should shift from the thousands of "Small" contracts to the few "Large" ones to maximize impact.</a:t>
            </a:r>
          </a:p>
          <a:p>
            <a:pPr algn="ctr">
              <a:lnSpc>
                <a:spcPts val="2470"/>
              </a:lnSpc>
              <a:spcBef>
                <a:spcPct val="0"/>
              </a:spcBef>
            </a:pPr>
          </a:p>
        </p:txBody>
      </p:sp>
      <p:sp>
        <p:nvSpPr>
          <p:cNvPr name="AutoShape 8" id="8"/>
          <p:cNvSpPr/>
          <p:nvPr/>
        </p:nvSpPr>
        <p:spPr>
          <a:xfrm flipV="true">
            <a:off x="5962672" y="3530136"/>
            <a:ext cx="19050" cy="5107784"/>
          </a:xfrm>
          <a:prstGeom prst="line">
            <a:avLst/>
          </a:prstGeom>
          <a:ln cap="flat" w="9525">
            <a:solidFill>
              <a:srgbClr val="3A855D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031670" y="-1149809"/>
            <a:ext cx="314174" cy="12004159"/>
            <a:chOff x="0" y="0"/>
            <a:chExt cx="87993" cy="336208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7993" cy="3362084"/>
            </a:xfrm>
            <a:custGeom>
              <a:avLst/>
              <a:gdLst/>
              <a:ahLst/>
              <a:cxnLst/>
              <a:rect r="r" b="b" t="t" l="l"/>
              <a:pathLst>
                <a:path h="3362084" w="87993">
                  <a:moveTo>
                    <a:pt x="43996" y="0"/>
                  </a:moveTo>
                  <a:lnTo>
                    <a:pt x="43996" y="0"/>
                  </a:lnTo>
                  <a:cubicBezTo>
                    <a:pt x="68295" y="0"/>
                    <a:pt x="87993" y="19698"/>
                    <a:pt x="87993" y="43996"/>
                  </a:cubicBezTo>
                  <a:lnTo>
                    <a:pt x="87993" y="3318088"/>
                  </a:lnTo>
                  <a:cubicBezTo>
                    <a:pt x="87993" y="3342386"/>
                    <a:pt x="68295" y="3362084"/>
                    <a:pt x="43996" y="3362084"/>
                  </a:cubicBezTo>
                  <a:lnTo>
                    <a:pt x="43996" y="3362084"/>
                  </a:lnTo>
                  <a:cubicBezTo>
                    <a:pt x="19698" y="3362084"/>
                    <a:pt x="0" y="3342386"/>
                    <a:pt x="0" y="3318088"/>
                  </a:cubicBezTo>
                  <a:lnTo>
                    <a:pt x="0" y="43996"/>
                  </a:lnTo>
                  <a:cubicBezTo>
                    <a:pt x="0" y="19698"/>
                    <a:pt x="19698" y="0"/>
                    <a:pt x="43996" y="0"/>
                  </a:cubicBezTo>
                  <a:close/>
                </a:path>
              </a:pathLst>
            </a:custGeom>
            <a:solidFill>
              <a:srgbClr val="3A855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85725"/>
              <a:ext cx="87993" cy="32763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5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7726404" y="1360132"/>
            <a:ext cx="9532896" cy="7566737"/>
          </a:xfrm>
          <a:custGeom>
            <a:avLst/>
            <a:gdLst/>
            <a:ahLst/>
            <a:cxnLst/>
            <a:rect r="r" b="b" t="t" l="l"/>
            <a:pathLst>
              <a:path h="7566737" w="9532896">
                <a:moveTo>
                  <a:pt x="0" y="0"/>
                </a:moveTo>
                <a:lnTo>
                  <a:pt x="9532896" y="0"/>
                </a:lnTo>
                <a:lnTo>
                  <a:pt x="9532896" y="7566736"/>
                </a:lnTo>
                <a:lnTo>
                  <a:pt x="0" y="75667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name="TextBox 6" id="6"/>
          <p:cNvSpPr txBox="true"/>
          <p:nvPr/>
        </p:nvSpPr>
        <p:spPr>
          <a:xfrm rot="0">
            <a:off x="1028700" y="1172412"/>
            <a:ext cx="5683548" cy="15096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808"/>
              </a:lnSpc>
              <a:spcBef>
                <a:spcPct val="0"/>
              </a:spcBef>
            </a:pPr>
            <a:r>
              <a:rPr lang="en-US" b="true" sz="5808" spc="-458">
                <a:solidFill>
                  <a:srgbClr val="3A855D"/>
                </a:solidFill>
                <a:latin typeface="Public Sans 2 Bold"/>
                <a:ea typeface="Public Sans 2 Bold"/>
                <a:cs typeface="Public Sans 2 Bold"/>
                <a:sym typeface="Public Sans 2 Bold"/>
              </a:rPr>
              <a:t>Dashboard Walkthrough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3293509"/>
            <a:ext cx="4689272" cy="3494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08"/>
              </a:lnSpc>
              <a:spcBef>
                <a:spcPct val="0"/>
              </a:spcBef>
            </a:pPr>
            <a:r>
              <a:rPr lang="en-US" b="true" sz="2508" spc="-198">
                <a:solidFill>
                  <a:srgbClr val="3A855D"/>
                </a:solidFill>
                <a:latin typeface="Public Sans 2 Bold"/>
                <a:ea typeface="Public Sans 2 Bold"/>
                <a:cs typeface="Public Sans 2 Bold"/>
                <a:sym typeface="Public Sans 2 Bold"/>
              </a:rPr>
              <a:t>Executive View (Top Row):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3585872"/>
            <a:ext cx="5868194" cy="1118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88" indent="-226694" lvl="1">
              <a:lnSpc>
                <a:spcPts val="2939"/>
              </a:lnSpc>
              <a:spcBef>
                <a:spcPct val="0"/>
              </a:spcBef>
              <a:buFont typeface="Arial"/>
              <a:buChar char="•"/>
            </a:pPr>
            <a:r>
              <a:rPr lang="en-US" sz="2099">
                <a:solidFill>
                  <a:srgbClr val="3A855D"/>
                </a:solidFill>
                <a:latin typeface="Public Sans 2"/>
                <a:ea typeface="Public Sans 2"/>
                <a:cs typeface="Public Sans 2"/>
                <a:sym typeface="Public Sans 2"/>
              </a:rPr>
              <a:t>Immediate visibility into Total Spend ($31.5B) and Critical Flags (Approval Delay).</a:t>
            </a:r>
          </a:p>
          <a:p>
            <a:pPr algn="l">
              <a:lnSpc>
                <a:spcPts val="2939"/>
              </a:lnSpc>
              <a:spcBef>
                <a:spcPct val="0"/>
              </a:spcBef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5120562"/>
            <a:ext cx="4689272" cy="3494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08"/>
              </a:lnSpc>
              <a:spcBef>
                <a:spcPct val="0"/>
              </a:spcBef>
            </a:pPr>
            <a:r>
              <a:rPr lang="en-US" b="true" sz="2508" spc="-198">
                <a:solidFill>
                  <a:srgbClr val="3A855D"/>
                </a:solidFill>
                <a:latin typeface="Public Sans 2 Bold"/>
                <a:ea typeface="Public Sans 2 Bold"/>
                <a:cs typeface="Public Sans 2 Bold"/>
                <a:sym typeface="Public Sans 2 Bold"/>
              </a:rPr>
              <a:t>Operational View (Charts):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5528455"/>
            <a:ext cx="5868194" cy="2975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88" indent="-226694" lvl="1">
              <a:lnSpc>
                <a:spcPts val="2939"/>
              </a:lnSpc>
              <a:buFont typeface="Arial"/>
              <a:buChar char="•"/>
            </a:pPr>
            <a:r>
              <a:rPr lang="en-US" sz="2099">
                <a:solidFill>
                  <a:srgbClr val="3A855D"/>
                </a:solidFill>
                <a:latin typeface="Public Sans 2"/>
                <a:ea typeface="Public Sans 2"/>
                <a:cs typeface="Public Sans 2"/>
                <a:sym typeface="Public Sans 2"/>
              </a:rPr>
              <a:t>Slicer Interactivity: Allows the user to drill down by Department (e.g., selecting "Transportation" instantly filters vendor lists and trends).</a:t>
            </a:r>
          </a:p>
          <a:p>
            <a:pPr algn="l" marL="453388" indent="-226694" lvl="1">
              <a:lnSpc>
                <a:spcPts val="2939"/>
              </a:lnSpc>
              <a:spcBef>
                <a:spcPct val="0"/>
              </a:spcBef>
              <a:buFont typeface="Arial"/>
              <a:buChar char="•"/>
            </a:pPr>
            <a:r>
              <a:rPr lang="en-US" sz="2099">
                <a:solidFill>
                  <a:srgbClr val="3A855D"/>
                </a:solidFill>
                <a:latin typeface="Public Sans 2"/>
                <a:ea typeface="Public Sans 2"/>
                <a:cs typeface="Public Sans 2"/>
                <a:sym typeface="Public Sans 2"/>
              </a:rPr>
              <a:t>Trend Analysis: The "Yearly Spending Trend" chart helps officials forecast future budget needs based on historical spikes.</a:t>
            </a:r>
          </a:p>
          <a:p>
            <a:pPr algn="l">
              <a:lnSpc>
                <a:spcPts val="293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022163"/>
            <a:ext cx="8247599" cy="10972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59"/>
              </a:lnSpc>
            </a:pPr>
            <a:r>
              <a:rPr lang="en-US" sz="8499" spc="-696">
                <a:solidFill>
                  <a:srgbClr val="3A855D"/>
                </a:solidFill>
                <a:latin typeface="Public Sans 1"/>
                <a:ea typeface="Public Sans 1"/>
                <a:cs typeface="Public Sans 1"/>
                <a:sym typeface="Public Sans 1"/>
              </a:rPr>
              <a:t>Recommendations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028700" y="2581972"/>
            <a:ext cx="16230600" cy="1897699"/>
            <a:chOff x="0" y="0"/>
            <a:chExt cx="5433327" cy="63527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433327" cy="635270"/>
            </a:xfrm>
            <a:custGeom>
              <a:avLst/>
              <a:gdLst/>
              <a:ahLst/>
              <a:cxnLst/>
              <a:rect r="r" b="b" t="t" l="l"/>
              <a:pathLst>
                <a:path h="635270" w="5433327">
                  <a:moveTo>
                    <a:pt x="7155" y="0"/>
                  </a:moveTo>
                  <a:lnTo>
                    <a:pt x="5426172" y="0"/>
                  </a:lnTo>
                  <a:cubicBezTo>
                    <a:pt x="5430124" y="0"/>
                    <a:pt x="5433327" y="3203"/>
                    <a:pt x="5433327" y="7155"/>
                  </a:cubicBezTo>
                  <a:lnTo>
                    <a:pt x="5433327" y="628115"/>
                  </a:lnTo>
                  <a:cubicBezTo>
                    <a:pt x="5433327" y="630013"/>
                    <a:pt x="5432573" y="631833"/>
                    <a:pt x="5431231" y="633175"/>
                  </a:cubicBezTo>
                  <a:cubicBezTo>
                    <a:pt x="5429889" y="634516"/>
                    <a:pt x="5428069" y="635270"/>
                    <a:pt x="5426172" y="635270"/>
                  </a:cubicBezTo>
                  <a:lnTo>
                    <a:pt x="7155" y="635270"/>
                  </a:lnTo>
                  <a:cubicBezTo>
                    <a:pt x="5257" y="635270"/>
                    <a:pt x="3437" y="634516"/>
                    <a:pt x="2096" y="633175"/>
                  </a:cubicBezTo>
                  <a:cubicBezTo>
                    <a:pt x="754" y="631833"/>
                    <a:pt x="0" y="630013"/>
                    <a:pt x="0" y="628115"/>
                  </a:cubicBezTo>
                  <a:lnTo>
                    <a:pt x="0" y="7155"/>
                  </a:lnTo>
                  <a:cubicBezTo>
                    <a:pt x="0" y="5257"/>
                    <a:pt x="754" y="3437"/>
                    <a:pt x="2096" y="2096"/>
                  </a:cubicBezTo>
                  <a:cubicBezTo>
                    <a:pt x="3437" y="754"/>
                    <a:pt x="5257" y="0"/>
                    <a:pt x="7155" y="0"/>
                  </a:cubicBezTo>
                  <a:close/>
                </a:path>
              </a:pathLst>
            </a:custGeom>
            <a:solidFill>
              <a:srgbClr val="3A855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85725"/>
              <a:ext cx="5433327" cy="5495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5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2120353" y="3201250"/>
            <a:ext cx="3459496" cy="7829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60"/>
              </a:lnSpc>
            </a:pPr>
            <a:r>
              <a:rPr lang="en-US" sz="6000" spc="-492">
                <a:solidFill>
                  <a:srgbClr val="F1F0EC"/>
                </a:solidFill>
                <a:latin typeface="Public Sans 1"/>
                <a:ea typeface="Public Sans 1"/>
                <a:cs typeface="Public Sans 1"/>
                <a:sym typeface="Public Sans 1"/>
              </a:rPr>
              <a:t>01.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180506" y="2778797"/>
            <a:ext cx="9053521" cy="1666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699"/>
              </a:lnSpc>
              <a:spcBef>
                <a:spcPct val="0"/>
              </a:spcBef>
            </a:pPr>
            <a:r>
              <a:rPr lang="en-US" b="true" sz="1999" spc="119" u="none">
                <a:solidFill>
                  <a:srgbClr val="F1F0EC"/>
                </a:solidFill>
                <a:latin typeface="Public Sans 1 Bold"/>
                <a:ea typeface="Public Sans 1 Bold"/>
                <a:cs typeface="Public Sans 1 Bold"/>
                <a:sym typeface="Public Sans 1 Bold"/>
              </a:rPr>
              <a:t>Diversify the Vendor Ecosystem:</a:t>
            </a:r>
          </a:p>
          <a:p>
            <a:pPr algn="just" marL="0" indent="0" lvl="0">
              <a:lnSpc>
                <a:spcPts val="2699"/>
              </a:lnSpc>
              <a:spcBef>
                <a:spcPct val="0"/>
              </a:spcBef>
            </a:pPr>
            <a:r>
              <a:rPr lang="en-US" b="true" sz="1999" spc="119" u="none">
                <a:solidFill>
                  <a:srgbClr val="F1F0EC"/>
                </a:solidFill>
                <a:latin typeface="Public Sans 1 Medium"/>
                <a:ea typeface="Public Sans 1 Medium"/>
                <a:cs typeface="Public Sans 1 Medium"/>
                <a:sym typeface="Public Sans 1 Medium"/>
              </a:rPr>
              <a:t>Action: Break down "Mega-Contracts" (like the $4B+ healthcare spend) into smaller bundles to encourage bidding from mid-sized vendors and reduce the "Too Big to Fail" risk.</a:t>
            </a:r>
          </a:p>
          <a:p>
            <a:pPr algn="just" marL="0" indent="0" lvl="0">
              <a:lnSpc>
                <a:spcPts val="2699"/>
              </a:lnSpc>
              <a:spcBef>
                <a:spcPct val="0"/>
              </a:spcBef>
            </a:pPr>
          </a:p>
        </p:txBody>
      </p:sp>
      <p:grpSp>
        <p:nvGrpSpPr>
          <p:cNvPr name="Group 8" id="8"/>
          <p:cNvGrpSpPr/>
          <p:nvPr/>
        </p:nvGrpSpPr>
        <p:grpSpPr>
          <a:xfrm rot="0">
            <a:off x="1028700" y="4946396"/>
            <a:ext cx="16230600" cy="1897699"/>
            <a:chOff x="0" y="0"/>
            <a:chExt cx="21640800" cy="2530265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21640800" cy="2530265"/>
              <a:chOff x="0" y="0"/>
              <a:chExt cx="5433327" cy="63527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5433327" cy="635270"/>
              </a:xfrm>
              <a:custGeom>
                <a:avLst/>
                <a:gdLst/>
                <a:ahLst/>
                <a:cxnLst/>
                <a:rect r="r" b="b" t="t" l="l"/>
                <a:pathLst>
                  <a:path h="635270" w="5433327">
                    <a:moveTo>
                      <a:pt x="7155" y="0"/>
                    </a:moveTo>
                    <a:lnTo>
                      <a:pt x="5426172" y="0"/>
                    </a:lnTo>
                    <a:cubicBezTo>
                      <a:pt x="5430124" y="0"/>
                      <a:pt x="5433327" y="3203"/>
                      <a:pt x="5433327" y="7155"/>
                    </a:cubicBezTo>
                    <a:lnTo>
                      <a:pt x="5433327" y="628115"/>
                    </a:lnTo>
                    <a:cubicBezTo>
                      <a:pt x="5433327" y="630013"/>
                      <a:pt x="5432573" y="631833"/>
                      <a:pt x="5431231" y="633175"/>
                    </a:cubicBezTo>
                    <a:cubicBezTo>
                      <a:pt x="5429889" y="634516"/>
                      <a:pt x="5428069" y="635270"/>
                      <a:pt x="5426172" y="635270"/>
                    </a:cubicBezTo>
                    <a:lnTo>
                      <a:pt x="7155" y="635270"/>
                    </a:lnTo>
                    <a:cubicBezTo>
                      <a:pt x="5257" y="635270"/>
                      <a:pt x="3437" y="634516"/>
                      <a:pt x="2096" y="633175"/>
                    </a:cubicBezTo>
                    <a:cubicBezTo>
                      <a:pt x="754" y="631833"/>
                      <a:pt x="0" y="630013"/>
                      <a:pt x="0" y="628115"/>
                    </a:cubicBezTo>
                    <a:lnTo>
                      <a:pt x="0" y="7155"/>
                    </a:lnTo>
                    <a:cubicBezTo>
                      <a:pt x="0" y="5257"/>
                      <a:pt x="754" y="3437"/>
                      <a:pt x="2096" y="2096"/>
                    </a:cubicBezTo>
                    <a:cubicBezTo>
                      <a:pt x="3437" y="754"/>
                      <a:pt x="5257" y="0"/>
                      <a:pt x="7155" y="0"/>
                    </a:cubicBezTo>
                    <a:close/>
                  </a:path>
                </a:pathLst>
              </a:custGeom>
              <a:solidFill>
                <a:srgbClr val="3A855D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85725"/>
                <a:ext cx="5433327" cy="54954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25"/>
                  </a:lnSpc>
                </a:pPr>
              </a:p>
            </p:txBody>
          </p:sp>
        </p:grpSp>
        <p:sp>
          <p:nvSpPr>
            <p:cNvPr name="TextBox 12" id="12"/>
            <p:cNvSpPr txBox="true"/>
            <p:nvPr/>
          </p:nvSpPr>
          <p:spPr>
            <a:xfrm rot="0">
              <a:off x="1455537" y="784429"/>
              <a:ext cx="4612662" cy="108523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760"/>
                </a:lnSpc>
              </a:pPr>
              <a:r>
                <a:rPr lang="en-US" sz="6000" spc="-492">
                  <a:solidFill>
                    <a:srgbClr val="F1F0EC"/>
                  </a:solidFill>
                  <a:latin typeface="Public Sans 1"/>
                  <a:ea typeface="Public Sans 1"/>
                  <a:cs typeface="Public Sans 1"/>
                  <a:sym typeface="Public Sans 1"/>
                </a:rPr>
                <a:t>02.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8202408" y="275133"/>
              <a:ext cx="12071361" cy="2209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0" indent="0" lvl="0">
                <a:lnSpc>
                  <a:spcPts val="2699"/>
                </a:lnSpc>
                <a:spcBef>
                  <a:spcPct val="0"/>
                </a:spcBef>
              </a:pPr>
              <a:r>
                <a:rPr lang="en-US" b="true" sz="1999" spc="119">
                  <a:solidFill>
                    <a:srgbClr val="F1F0EC"/>
                  </a:solidFill>
                  <a:latin typeface="Public Sans 1 Bold"/>
                  <a:ea typeface="Public Sans 1 Bold"/>
                  <a:cs typeface="Public Sans 1 Bold"/>
                  <a:sym typeface="Public Sans 1 Bold"/>
                </a:rPr>
                <a:t>Impl</a:t>
              </a:r>
              <a:r>
                <a:rPr lang="en-US" b="true" sz="1999" spc="119" u="none">
                  <a:solidFill>
                    <a:srgbClr val="F1F0EC"/>
                  </a:solidFill>
                  <a:latin typeface="Public Sans 1 Bold"/>
                  <a:ea typeface="Public Sans 1 Bold"/>
                  <a:cs typeface="Public Sans 1 Bold"/>
                  <a:sym typeface="Public Sans 1 Bold"/>
                </a:rPr>
                <a:t>ement "Express Lane" Approvals:</a:t>
              </a:r>
            </a:p>
            <a:p>
              <a:pPr algn="just" marL="0" indent="0" lvl="0">
                <a:lnSpc>
                  <a:spcPts val="2699"/>
                </a:lnSpc>
                <a:spcBef>
                  <a:spcPct val="0"/>
                </a:spcBef>
              </a:pPr>
              <a:r>
                <a:rPr lang="en-US" sz="1999" spc="119" u="none">
                  <a:solidFill>
                    <a:srgbClr val="F1F0EC"/>
                  </a:solidFill>
                  <a:latin typeface="Public Sans 1"/>
                  <a:ea typeface="Public Sans 1"/>
                  <a:cs typeface="Public Sans 1"/>
                  <a:sym typeface="Public Sans 1"/>
                </a:rPr>
                <a:t>Action: The 805-day average delay is critical. Create a fast-track approval process for standard, low-value contracts (&lt;$50k) to reduce the backlog.</a:t>
              </a:r>
            </a:p>
            <a:p>
              <a:pPr algn="just" marL="0" indent="0" lvl="0">
                <a:lnSpc>
                  <a:spcPts val="269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28700" y="7360601"/>
            <a:ext cx="16230600" cy="1914678"/>
            <a:chOff x="0" y="0"/>
            <a:chExt cx="21640800" cy="2552904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0" y="0"/>
              <a:ext cx="21640800" cy="2552904"/>
              <a:chOff x="0" y="0"/>
              <a:chExt cx="5433327" cy="640954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5433327" cy="640954"/>
              </a:xfrm>
              <a:custGeom>
                <a:avLst/>
                <a:gdLst/>
                <a:ahLst/>
                <a:cxnLst/>
                <a:rect r="r" b="b" t="t" l="l"/>
                <a:pathLst>
                  <a:path h="640954" w="5433327">
                    <a:moveTo>
                      <a:pt x="7155" y="0"/>
                    </a:moveTo>
                    <a:lnTo>
                      <a:pt x="5426172" y="0"/>
                    </a:lnTo>
                    <a:cubicBezTo>
                      <a:pt x="5430124" y="0"/>
                      <a:pt x="5433327" y="3203"/>
                      <a:pt x="5433327" y="7155"/>
                    </a:cubicBezTo>
                    <a:lnTo>
                      <a:pt x="5433327" y="633799"/>
                    </a:lnTo>
                    <a:cubicBezTo>
                      <a:pt x="5433327" y="635697"/>
                      <a:pt x="5432573" y="637517"/>
                      <a:pt x="5431231" y="638859"/>
                    </a:cubicBezTo>
                    <a:cubicBezTo>
                      <a:pt x="5429889" y="640200"/>
                      <a:pt x="5428069" y="640954"/>
                      <a:pt x="5426172" y="640954"/>
                    </a:cubicBezTo>
                    <a:lnTo>
                      <a:pt x="7155" y="640954"/>
                    </a:lnTo>
                    <a:cubicBezTo>
                      <a:pt x="5257" y="640954"/>
                      <a:pt x="3437" y="640200"/>
                      <a:pt x="2096" y="638859"/>
                    </a:cubicBezTo>
                    <a:cubicBezTo>
                      <a:pt x="754" y="637517"/>
                      <a:pt x="0" y="635697"/>
                      <a:pt x="0" y="633799"/>
                    </a:cubicBezTo>
                    <a:lnTo>
                      <a:pt x="0" y="7155"/>
                    </a:lnTo>
                    <a:cubicBezTo>
                      <a:pt x="0" y="5257"/>
                      <a:pt x="754" y="3437"/>
                      <a:pt x="2096" y="2096"/>
                    </a:cubicBezTo>
                    <a:cubicBezTo>
                      <a:pt x="3437" y="754"/>
                      <a:pt x="5257" y="0"/>
                      <a:pt x="7155" y="0"/>
                    </a:cubicBezTo>
                    <a:close/>
                  </a:path>
                </a:pathLst>
              </a:custGeom>
              <a:solidFill>
                <a:srgbClr val="3A855D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85725"/>
                <a:ext cx="5433327" cy="55522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25"/>
                  </a:lnSpc>
                </a:pPr>
              </a:p>
            </p:txBody>
          </p:sp>
        </p:grpSp>
        <p:sp>
          <p:nvSpPr>
            <p:cNvPr name="TextBox 18" id="18"/>
            <p:cNvSpPr txBox="true"/>
            <p:nvPr/>
          </p:nvSpPr>
          <p:spPr>
            <a:xfrm rot="0">
              <a:off x="1455537" y="784429"/>
              <a:ext cx="4612662" cy="108523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760"/>
                </a:lnSpc>
              </a:pPr>
              <a:r>
                <a:rPr lang="en-US" sz="6000" spc="-492">
                  <a:solidFill>
                    <a:srgbClr val="F1F0EC"/>
                  </a:solidFill>
                  <a:latin typeface="Public Sans 1"/>
                  <a:ea typeface="Public Sans 1"/>
                  <a:cs typeface="Public Sans 1"/>
                  <a:sym typeface="Public Sans 1"/>
                </a:rPr>
                <a:t>03.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8202408" y="275133"/>
              <a:ext cx="12071361" cy="17653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0" indent="0" lvl="0">
                <a:lnSpc>
                  <a:spcPts val="2699"/>
                </a:lnSpc>
                <a:spcBef>
                  <a:spcPct val="0"/>
                </a:spcBef>
              </a:pPr>
              <a:r>
                <a:rPr lang="en-US" b="true" sz="1999" spc="119">
                  <a:solidFill>
                    <a:srgbClr val="F1F0EC"/>
                  </a:solidFill>
                  <a:latin typeface="Public Sans 1 Bold"/>
                  <a:ea typeface="Public Sans 1 Bold"/>
                  <a:cs typeface="Public Sans 1 Bold"/>
                  <a:sym typeface="Public Sans 1 Bold"/>
                </a:rPr>
                <a:t>Cap</a:t>
              </a:r>
              <a:r>
                <a:rPr lang="en-US" b="true" sz="1999" spc="119" u="none">
                  <a:solidFill>
                    <a:srgbClr val="F1F0EC"/>
                  </a:solidFill>
                  <a:latin typeface="Public Sans 1 Bold"/>
                  <a:ea typeface="Public Sans 1 Bold"/>
                  <a:cs typeface="Public Sans 1 Bold"/>
                  <a:sym typeface="Public Sans 1 Bold"/>
                </a:rPr>
                <a:t> "Blanket" Contracts:</a:t>
              </a:r>
            </a:p>
            <a:p>
              <a:pPr algn="just" marL="0" indent="0" lvl="0">
                <a:lnSpc>
                  <a:spcPts val="2699"/>
                </a:lnSpc>
                <a:spcBef>
                  <a:spcPct val="0"/>
                </a:spcBef>
              </a:pPr>
              <a:r>
                <a:rPr lang="en-US" sz="1999" spc="119" u="none">
                  <a:solidFill>
                    <a:srgbClr val="F1F0EC"/>
                  </a:solidFill>
                  <a:latin typeface="Public Sans 1"/>
                  <a:ea typeface="Public Sans 1"/>
                  <a:cs typeface="Public Sans 1"/>
                  <a:sym typeface="Public Sans 1"/>
                </a:rPr>
                <a:t>Action: Limit "Depends Upon Requirements" contracts to a fixed % of the budget (e.g., max 20%) to prevent unchecked spending creep.</a:t>
              </a:r>
            </a:p>
            <a:p>
              <a:pPr algn="just" marL="0" indent="0" lvl="0">
                <a:lnSpc>
                  <a:spcPts val="269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946196" y="1351924"/>
            <a:ext cx="14395608" cy="7583153"/>
            <a:chOff x="0" y="0"/>
            <a:chExt cx="3791436" cy="199720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791436" cy="1997209"/>
            </a:xfrm>
            <a:custGeom>
              <a:avLst/>
              <a:gdLst/>
              <a:ahLst/>
              <a:cxnLst/>
              <a:rect r="r" b="b" t="t" l="l"/>
              <a:pathLst>
                <a:path h="1997209" w="3791436">
                  <a:moveTo>
                    <a:pt x="8067" y="0"/>
                  </a:moveTo>
                  <a:lnTo>
                    <a:pt x="3783369" y="0"/>
                  </a:lnTo>
                  <a:cubicBezTo>
                    <a:pt x="3785508" y="0"/>
                    <a:pt x="3787560" y="850"/>
                    <a:pt x="3789073" y="2363"/>
                  </a:cubicBezTo>
                  <a:cubicBezTo>
                    <a:pt x="3790586" y="3876"/>
                    <a:pt x="3791436" y="5927"/>
                    <a:pt x="3791436" y="8067"/>
                  </a:cubicBezTo>
                  <a:lnTo>
                    <a:pt x="3791436" y="1989142"/>
                  </a:lnTo>
                  <a:cubicBezTo>
                    <a:pt x="3791436" y="1991281"/>
                    <a:pt x="3790586" y="1993333"/>
                    <a:pt x="3789073" y="1994846"/>
                  </a:cubicBezTo>
                  <a:cubicBezTo>
                    <a:pt x="3787560" y="1996359"/>
                    <a:pt x="3785508" y="1997209"/>
                    <a:pt x="3783369" y="1997209"/>
                  </a:cubicBezTo>
                  <a:lnTo>
                    <a:pt x="8067" y="1997209"/>
                  </a:lnTo>
                  <a:cubicBezTo>
                    <a:pt x="5927" y="1997209"/>
                    <a:pt x="3876" y="1996359"/>
                    <a:pt x="2363" y="1994846"/>
                  </a:cubicBezTo>
                  <a:cubicBezTo>
                    <a:pt x="850" y="1993333"/>
                    <a:pt x="0" y="1991281"/>
                    <a:pt x="0" y="1989142"/>
                  </a:cubicBezTo>
                  <a:lnTo>
                    <a:pt x="0" y="8067"/>
                  </a:lnTo>
                  <a:cubicBezTo>
                    <a:pt x="0" y="5927"/>
                    <a:pt x="850" y="3876"/>
                    <a:pt x="2363" y="2363"/>
                  </a:cubicBezTo>
                  <a:cubicBezTo>
                    <a:pt x="3876" y="850"/>
                    <a:pt x="5927" y="0"/>
                    <a:pt x="8067" y="0"/>
                  </a:cubicBezTo>
                  <a:close/>
                </a:path>
              </a:pathLst>
            </a:custGeom>
            <a:solidFill>
              <a:srgbClr val="3A855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85725"/>
              <a:ext cx="3791436" cy="19114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5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5398361" y="2337159"/>
            <a:ext cx="7686945" cy="6527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530"/>
              </a:lnSpc>
              <a:spcBef>
                <a:spcPct val="0"/>
              </a:spcBef>
            </a:pPr>
            <a:r>
              <a:rPr lang="en-US" b="true" sz="5808" spc="-458">
                <a:solidFill>
                  <a:srgbClr val="FFFFFF"/>
                </a:solidFill>
                <a:latin typeface="Public Sans 2 Bold"/>
                <a:ea typeface="Public Sans 2 Bold"/>
                <a:cs typeface="Public Sans 2 Bold"/>
                <a:sym typeface="Public Sans 2 Bold"/>
              </a:rPr>
              <a:t>Impa</a:t>
            </a:r>
            <a:r>
              <a:rPr lang="en-US" b="true" sz="5808" spc="-458" u="none">
                <a:solidFill>
                  <a:srgbClr val="FFFFFF"/>
                </a:solidFill>
                <a:latin typeface="Public Sans 2 Bold"/>
                <a:ea typeface="Public Sans 2 Bold"/>
                <a:cs typeface="Public Sans 2 Bold"/>
                <a:sym typeface="Public Sans 2 Bold"/>
              </a:rPr>
              <a:t>ct &amp; Value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555309" y="3598642"/>
            <a:ext cx="7373048" cy="3494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08"/>
              </a:lnSpc>
              <a:spcBef>
                <a:spcPct val="0"/>
              </a:spcBef>
            </a:pPr>
            <a:r>
              <a:rPr lang="en-US" b="true" sz="2508" spc="-198">
                <a:solidFill>
                  <a:srgbClr val="FFFFFF"/>
                </a:solidFill>
                <a:latin typeface="Public Sans 2 Bold"/>
                <a:ea typeface="Public Sans 2 Bold"/>
                <a:cs typeface="Public Sans 2 Bold"/>
                <a:sym typeface="Public Sans 2 Bold"/>
              </a:rPr>
              <a:t>Financial Impact: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964706" y="4052879"/>
            <a:ext cx="8554255" cy="1118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FFFFFF"/>
                </a:solidFill>
                <a:latin typeface="Public Sans 2"/>
                <a:ea typeface="Public Sans 2"/>
                <a:cs typeface="Public Sans 2"/>
                <a:sym typeface="Public Sans 2"/>
              </a:rPr>
              <a:t>Increasing vendor competition by 10% could yield estimated savings of $1.5 Billion (5% of total spend).</a:t>
            </a:r>
          </a:p>
          <a:p>
            <a:pPr algn="ctr">
              <a:lnSpc>
                <a:spcPts val="2939"/>
              </a:lnSpc>
              <a:spcBef>
                <a:spcPct val="0"/>
              </a:spcBef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5712258" y="5361614"/>
            <a:ext cx="7373048" cy="3494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08"/>
              </a:lnSpc>
              <a:spcBef>
                <a:spcPct val="0"/>
              </a:spcBef>
            </a:pPr>
            <a:r>
              <a:rPr lang="en-US" b="true" sz="2508" spc="-198">
                <a:solidFill>
                  <a:srgbClr val="FFFFFF"/>
                </a:solidFill>
                <a:latin typeface="Public Sans 2 Bold"/>
                <a:ea typeface="Public Sans 2 Bold"/>
                <a:cs typeface="Public Sans 2 Bold"/>
                <a:sym typeface="Public Sans 2 Bold"/>
              </a:rPr>
              <a:t>Operational Impact: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769039" y="5815851"/>
            <a:ext cx="8554255" cy="746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FFFFFF"/>
                </a:solidFill>
                <a:latin typeface="Public Sans 2"/>
                <a:ea typeface="Public Sans 2"/>
                <a:cs typeface="Public Sans 2"/>
                <a:sym typeface="Public Sans 2"/>
              </a:rPr>
              <a:t>Reducing approval delay from 800 days to 400 days would save thousands of administrative man-hours annually.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555309" y="6865278"/>
            <a:ext cx="7373048" cy="3494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08"/>
              </a:lnSpc>
              <a:spcBef>
                <a:spcPct val="0"/>
              </a:spcBef>
            </a:pPr>
            <a:r>
              <a:rPr lang="en-US" b="true" sz="2508" spc="-198">
                <a:solidFill>
                  <a:srgbClr val="FFFFFF"/>
                </a:solidFill>
                <a:latin typeface="Public Sans 2 Bold"/>
                <a:ea typeface="Public Sans 2 Bold"/>
                <a:cs typeface="Public Sans 2 Bold"/>
                <a:sym typeface="Public Sans 2 Bold"/>
              </a:rPr>
              <a:t>Governance: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769039" y="7431681"/>
            <a:ext cx="8554255" cy="746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FFFFFF"/>
                </a:solidFill>
                <a:latin typeface="Public Sans 2"/>
                <a:ea typeface="Public Sans 2"/>
                <a:cs typeface="Public Sans 2"/>
                <a:sym typeface="Public Sans 2"/>
              </a:rPr>
              <a:t>Real-time monitoring of "Negative Modifications" allows for early intervention before contracts fail.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219200"/>
            <a:ext cx="8118599" cy="21259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59"/>
              </a:lnSpc>
            </a:pPr>
            <a:r>
              <a:rPr lang="en-US" sz="8499" spc="-696">
                <a:solidFill>
                  <a:srgbClr val="3A855D"/>
                </a:solidFill>
                <a:latin typeface="Public Sans 1"/>
                <a:ea typeface="Public Sans 1"/>
                <a:cs typeface="Public Sans 1"/>
                <a:sym typeface="Public Sans 1"/>
              </a:rPr>
              <a:t>Limitations &amp; </a:t>
            </a:r>
          </a:p>
          <a:p>
            <a:pPr algn="l">
              <a:lnSpc>
                <a:spcPts val="8159"/>
              </a:lnSpc>
            </a:pPr>
            <a:r>
              <a:rPr lang="en-US" sz="8499" spc="-696">
                <a:solidFill>
                  <a:srgbClr val="3A855D"/>
                </a:solidFill>
                <a:latin typeface="Public Sans 1"/>
                <a:ea typeface="Public Sans 1"/>
                <a:cs typeface="Public Sans 1"/>
                <a:sym typeface="Public Sans 1"/>
              </a:rPr>
              <a:t>Next Steps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7427884" y="-1338012"/>
            <a:ext cx="314174" cy="12004159"/>
            <a:chOff x="0" y="0"/>
            <a:chExt cx="87993" cy="336208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7993" cy="3362084"/>
            </a:xfrm>
            <a:custGeom>
              <a:avLst/>
              <a:gdLst/>
              <a:ahLst/>
              <a:cxnLst/>
              <a:rect r="r" b="b" t="t" l="l"/>
              <a:pathLst>
                <a:path h="3362084" w="87993">
                  <a:moveTo>
                    <a:pt x="43996" y="0"/>
                  </a:moveTo>
                  <a:lnTo>
                    <a:pt x="43996" y="0"/>
                  </a:lnTo>
                  <a:cubicBezTo>
                    <a:pt x="68295" y="0"/>
                    <a:pt x="87993" y="19698"/>
                    <a:pt x="87993" y="43996"/>
                  </a:cubicBezTo>
                  <a:lnTo>
                    <a:pt x="87993" y="3318088"/>
                  </a:lnTo>
                  <a:cubicBezTo>
                    <a:pt x="87993" y="3342386"/>
                    <a:pt x="68295" y="3362084"/>
                    <a:pt x="43996" y="3362084"/>
                  </a:cubicBezTo>
                  <a:lnTo>
                    <a:pt x="43996" y="3362084"/>
                  </a:lnTo>
                  <a:cubicBezTo>
                    <a:pt x="19698" y="3362084"/>
                    <a:pt x="0" y="3342386"/>
                    <a:pt x="0" y="3318088"/>
                  </a:cubicBezTo>
                  <a:lnTo>
                    <a:pt x="0" y="43996"/>
                  </a:lnTo>
                  <a:cubicBezTo>
                    <a:pt x="0" y="19698"/>
                    <a:pt x="19698" y="0"/>
                    <a:pt x="43996" y="0"/>
                  </a:cubicBezTo>
                  <a:close/>
                </a:path>
              </a:pathLst>
            </a:custGeom>
            <a:solidFill>
              <a:srgbClr val="3A855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85725"/>
              <a:ext cx="87993" cy="32763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5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9144000" y="3355315"/>
            <a:ext cx="5868194" cy="3494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08"/>
              </a:lnSpc>
              <a:spcBef>
                <a:spcPct val="0"/>
              </a:spcBef>
            </a:pPr>
            <a:r>
              <a:rPr lang="en-US" b="true" sz="2508" spc="-198">
                <a:solidFill>
                  <a:srgbClr val="3A855D"/>
                </a:solidFill>
                <a:latin typeface="Public Sans 2 Bold"/>
                <a:ea typeface="Public Sans 2 Bold"/>
                <a:cs typeface="Public Sans 2 Bold"/>
                <a:sym typeface="Public Sans 2 Bold"/>
              </a:rPr>
              <a:t>Limitations: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364525" y="3791995"/>
            <a:ext cx="6808315" cy="2232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53388" indent="-226694" lvl="1">
              <a:lnSpc>
                <a:spcPts val="2939"/>
              </a:lnSpc>
              <a:buFont typeface="Arial"/>
              <a:buChar char="•"/>
            </a:pPr>
            <a:r>
              <a:rPr lang="en-US" sz="2099">
                <a:solidFill>
                  <a:srgbClr val="3A855D"/>
                </a:solidFill>
                <a:latin typeface="Public Sans 2"/>
                <a:ea typeface="Public Sans 2"/>
                <a:cs typeface="Public Sans 2"/>
                <a:sym typeface="Public Sans 2"/>
              </a:rPr>
              <a:t>Granularity: The dataset provides contract-level totals but lacks line-item details (we know who got paid, but not exactly which items were bought).</a:t>
            </a:r>
          </a:p>
          <a:p>
            <a:pPr algn="just" marL="453388" indent="-226694" lvl="1">
              <a:lnSpc>
                <a:spcPts val="2939"/>
              </a:lnSpc>
              <a:spcBef>
                <a:spcPct val="0"/>
              </a:spcBef>
              <a:buFont typeface="Arial"/>
              <a:buChar char="•"/>
            </a:pPr>
            <a:r>
              <a:rPr lang="en-US" sz="2099">
                <a:solidFill>
                  <a:srgbClr val="3A855D"/>
                </a:solidFill>
                <a:latin typeface="Public Sans 2"/>
                <a:ea typeface="Public Sans 2"/>
                <a:cs typeface="Public Sans 2"/>
                <a:sym typeface="Public Sans 2"/>
              </a:rPr>
              <a:t>Historical Gaps: Data pre-2010 has inconsistent fields compared to recent entries.</a:t>
            </a:r>
          </a:p>
          <a:p>
            <a:pPr algn="just">
              <a:lnSpc>
                <a:spcPts val="2939"/>
              </a:lnSpc>
              <a:spcBef>
                <a:spcPct val="0"/>
              </a:spcBef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9144000" y="6664985"/>
            <a:ext cx="5868194" cy="3494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08"/>
              </a:lnSpc>
              <a:spcBef>
                <a:spcPct val="0"/>
              </a:spcBef>
            </a:pPr>
            <a:r>
              <a:rPr lang="en-US" b="true" sz="2508" spc="-198">
                <a:solidFill>
                  <a:srgbClr val="3A855D"/>
                </a:solidFill>
                <a:latin typeface="Public Sans 2 Bold"/>
                <a:ea typeface="Public Sans 2 Bold"/>
                <a:cs typeface="Public Sans 2 Bold"/>
                <a:sym typeface="Public Sans 2 Bold"/>
              </a:rPr>
              <a:t>Next Steps: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364525" y="7100171"/>
            <a:ext cx="6808315" cy="1861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88" indent="-226694" lvl="1">
              <a:lnSpc>
                <a:spcPts val="2939"/>
              </a:lnSpc>
              <a:buFont typeface="Arial"/>
              <a:buChar char="•"/>
            </a:pPr>
            <a:r>
              <a:rPr lang="en-US" sz="2099">
                <a:solidFill>
                  <a:srgbClr val="3A855D"/>
                </a:solidFill>
                <a:latin typeface="Public Sans 2"/>
                <a:ea typeface="Public Sans 2"/>
                <a:cs typeface="Public Sans 2"/>
                <a:sym typeface="Public Sans 2"/>
              </a:rPr>
              <a:t>Integrate "Line Item" procurement data for deeper unit-price analysis.</a:t>
            </a:r>
          </a:p>
          <a:p>
            <a:pPr algn="l" marL="453388" indent="-226694" lvl="1">
              <a:lnSpc>
                <a:spcPts val="2939"/>
              </a:lnSpc>
              <a:spcBef>
                <a:spcPct val="0"/>
              </a:spcBef>
              <a:buFont typeface="Arial"/>
              <a:buChar char="•"/>
            </a:pPr>
            <a:r>
              <a:rPr lang="en-US" sz="2099">
                <a:solidFill>
                  <a:srgbClr val="3A855D"/>
                </a:solidFill>
                <a:latin typeface="Public Sans 2"/>
                <a:ea typeface="Public Sans 2"/>
                <a:cs typeface="Public Sans 2"/>
                <a:sym typeface="Public Sans 2"/>
              </a:rPr>
              <a:t>Au</a:t>
            </a:r>
            <a:r>
              <a:rPr lang="en-US" sz="2099">
                <a:solidFill>
                  <a:srgbClr val="3A855D"/>
                </a:solidFill>
                <a:latin typeface="Public Sans 2"/>
                <a:ea typeface="Public Sans 2"/>
                <a:cs typeface="Public Sans 2"/>
                <a:sym typeface="Public Sans 2"/>
              </a:rPr>
              <a:t>tomate the data pipeline to refresh the dashboard weekly instead of static CSV uploads.</a:t>
            </a:r>
          </a:p>
          <a:p>
            <a:pPr algn="l">
              <a:lnSpc>
                <a:spcPts val="293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597139" y="1892358"/>
            <a:ext cx="11093721" cy="37072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883"/>
              </a:lnSpc>
            </a:pPr>
            <a:r>
              <a:rPr lang="en-US" sz="15957" spc="-1308">
                <a:solidFill>
                  <a:srgbClr val="3A855D"/>
                </a:solidFill>
                <a:latin typeface="Public Sans 1"/>
                <a:ea typeface="Public Sans 1"/>
                <a:cs typeface="Public Sans 1"/>
                <a:sym typeface="Public Sans 1"/>
              </a:rPr>
              <a:t>Thank you very much!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-2483489" y="5521232"/>
            <a:ext cx="15716192" cy="5707392"/>
            <a:chOff x="0" y="0"/>
            <a:chExt cx="20954923" cy="7609856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2044057"/>
              <a:ext cx="20954923" cy="5565799"/>
              <a:chOff x="0" y="0"/>
              <a:chExt cx="5632329" cy="1495993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5632329" cy="1495993"/>
              </a:xfrm>
              <a:custGeom>
                <a:avLst/>
                <a:gdLst/>
                <a:ahLst/>
                <a:cxnLst/>
                <a:rect r="r" b="b" t="t" l="l"/>
                <a:pathLst>
                  <a:path h="1495993" w="5632329">
                    <a:moveTo>
                      <a:pt x="0" y="0"/>
                    </a:moveTo>
                    <a:lnTo>
                      <a:pt x="5632329" y="0"/>
                    </a:lnTo>
                    <a:lnTo>
                      <a:pt x="5632329" y="1495993"/>
                    </a:lnTo>
                    <a:lnTo>
                      <a:pt x="0" y="1495993"/>
                    </a:lnTo>
                    <a:close/>
                  </a:path>
                </a:pathLst>
              </a:custGeom>
              <a:solidFill>
                <a:srgbClr val="3A855D"/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28575"/>
                <a:ext cx="5632329" cy="152456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6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7" id="7"/>
            <p:cNvSpPr/>
            <p:nvPr/>
          </p:nvSpPr>
          <p:spPr>
            <a:xfrm flipH="false" flipV="false" rot="0">
              <a:off x="147591" y="0"/>
              <a:ext cx="20807332" cy="7609856"/>
            </a:xfrm>
            <a:custGeom>
              <a:avLst/>
              <a:gdLst/>
              <a:ahLst/>
              <a:cxnLst/>
              <a:rect r="r" b="b" t="t" l="l"/>
              <a:pathLst>
                <a:path h="7609856" w="20807332">
                  <a:moveTo>
                    <a:pt x="0" y="0"/>
                  </a:moveTo>
                  <a:lnTo>
                    <a:pt x="20807332" y="0"/>
                  </a:lnTo>
                  <a:lnTo>
                    <a:pt x="20807332" y="7609856"/>
                  </a:lnTo>
                  <a:lnTo>
                    <a:pt x="0" y="76098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0968" t="-131589" r="-17283" b="-2483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3548752" y="7239875"/>
            <a:ext cx="3710548" cy="2270107"/>
            <a:chOff x="0" y="0"/>
            <a:chExt cx="4947397" cy="3026809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-38100"/>
              <a:ext cx="4947397" cy="4360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 marL="0" indent="0" lvl="0">
                <a:lnSpc>
                  <a:spcPts val="2600"/>
                </a:lnSpc>
                <a:spcBef>
                  <a:spcPct val="0"/>
                </a:spcBef>
              </a:pPr>
              <a:r>
                <a:rPr lang="en-US" sz="2000">
                  <a:solidFill>
                    <a:srgbClr val="3A855D"/>
                  </a:solidFill>
                  <a:latin typeface="Public Sans 1"/>
                  <a:ea typeface="Public Sans 1"/>
                  <a:cs typeface="Public Sans 1"/>
                  <a:sym typeface="Public Sans 1"/>
                </a:rPr>
                <a:t>TEAM MEMBERS: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431776"/>
              <a:ext cx="4947397" cy="25950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2600"/>
                </a:lnSpc>
              </a:pPr>
              <a:r>
                <a:rPr lang="en-US" sz="2000">
                  <a:solidFill>
                    <a:srgbClr val="2B2B2B"/>
                  </a:solidFill>
                  <a:latin typeface="Public Sans 1"/>
                  <a:ea typeface="Public Sans 1"/>
                  <a:cs typeface="Public Sans 1"/>
                  <a:sym typeface="Public Sans 1"/>
                </a:rPr>
                <a:t>S.Harsith Priyan - 2401010398</a:t>
              </a:r>
            </a:p>
            <a:p>
              <a:pPr algn="r">
                <a:lnSpc>
                  <a:spcPts val="2600"/>
                </a:lnSpc>
              </a:pPr>
              <a:r>
                <a:rPr lang="en-US" sz="2000">
                  <a:solidFill>
                    <a:srgbClr val="2B2B2B"/>
                  </a:solidFill>
                  <a:latin typeface="Public Sans 1"/>
                  <a:ea typeface="Public Sans 1"/>
                  <a:cs typeface="Public Sans 1"/>
                  <a:sym typeface="Public Sans 1"/>
                </a:rPr>
                <a:t>Asad Ali - 2401010108</a:t>
              </a:r>
            </a:p>
            <a:p>
              <a:pPr algn="r">
                <a:lnSpc>
                  <a:spcPts val="2600"/>
                </a:lnSpc>
              </a:pPr>
              <a:r>
                <a:rPr lang="en-US" sz="2000">
                  <a:solidFill>
                    <a:srgbClr val="2B2B2B"/>
                  </a:solidFill>
                  <a:latin typeface="Public Sans 1"/>
                  <a:ea typeface="Public Sans 1"/>
                  <a:cs typeface="Public Sans 1"/>
                  <a:sym typeface="Public Sans 1"/>
                </a:rPr>
                <a:t>Himani Pinjani - 2401020115</a:t>
              </a:r>
            </a:p>
            <a:p>
              <a:pPr algn="r">
                <a:lnSpc>
                  <a:spcPts val="2600"/>
                </a:lnSpc>
              </a:pPr>
              <a:r>
                <a:rPr lang="en-US" sz="2000">
                  <a:solidFill>
                    <a:srgbClr val="2B2B2B"/>
                  </a:solidFill>
                  <a:latin typeface="Public Sans 1"/>
                  <a:ea typeface="Public Sans 1"/>
                  <a:cs typeface="Public Sans 1"/>
                  <a:sym typeface="Public Sans 1"/>
                </a:rPr>
                <a:t>Bhumi Rastogi - 2401010129</a:t>
              </a:r>
            </a:p>
            <a:p>
              <a:pPr algn="r">
                <a:lnSpc>
                  <a:spcPts val="2600"/>
                </a:lnSpc>
              </a:pPr>
              <a:r>
                <a:rPr lang="en-US" sz="2000">
                  <a:solidFill>
                    <a:srgbClr val="2B2B2B"/>
                  </a:solidFill>
                  <a:latin typeface="Public Sans 1"/>
                  <a:ea typeface="Public Sans 1"/>
                  <a:cs typeface="Public Sans 1"/>
                  <a:sym typeface="Public Sans 1"/>
                </a:rPr>
                <a:t>Joshit Dutta - 2401010203</a:t>
              </a:r>
            </a:p>
            <a:p>
              <a:pPr algn="r" marL="0" indent="0" lvl="0">
                <a:lnSpc>
                  <a:spcPts val="2600"/>
                </a:lnSpc>
                <a:spcBef>
                  <a:spcPct val="0"/>
                </a:spcBef>
              </a:pPr>
              <a:r>
                <a:rPr lang="en-US" sz="2000">
                  <a:solidFill>
                    <a:srgbClr val="2B2B2B"/>
                  </a:solidFill>
                  <a:latin typeface="Public Sans 1"/>
                  <a:ea typeface="Public Sans 1"/>
                  <a:cs typeface="Public Sans 1"/>
                  <a:sym typeface="Public Sans 1"/>
                </a:rPr>
                <a:t>Siddhant Giri - 2401010455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DAHBqktf9KU</dc:identifier>
  <dcterms:modified xsi:type="dcterms:W3CDTF">2011-08-01T06:04:30Z</dcterms:modified>
  <cp:revision>1</cp:revision>
  <dc:title>Green Retro Markets and Finance Presentation</dc:title>
</cp:coreProperties>
</file>